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imes New Roman MT Condensed" charset="1" panose="02030506070405020303"/>
      <p:regular r:id="rId19"/>
    </p:embeddedFont>
    <p:embeddedFont>
      <p:font typeface="Calibri (MS) Bold" charset="1" panose="020F0702030404030204"/>
      <p:regular r:id="rId20"/>
    </p:embeddedFont>
    <p:embeddedFont>
      <p:font typeface="Cambria Bold" charset="1" panose="02040803050406030204"/>
      <p:regular r:id="rId21"/>
    </p:embeddedFont>
    <p:embeddedFont>
      <p:font typeface="Calibri (MS)" charset="1" panose="020F0502020204030204"/>
      <p:regular r:id="rId23"/>
    </p:embeddedFont>
    <p:embeddedFont>
      <p:font typeface="Times New Roman MT Condensed Bold" charset="1" panose="02030806070405020303"/>
      <p:regular r:id="rId24"/>
    </p:embeddedFont>
    <p:embeddedFont>
      <p:font typeface="Calibri (MS) Bold Italics" charset="1" panose="020F07020304040A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jpe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9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9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9.jpe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.sv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9.jpeg" Type="http://schemas.openxmlformats.org/officeDocument/2006/relationships/image"/><Relationship Id="rId9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51944" y="-4720481"/>
            <a:ext cx="8233599" cy="8233599"/>
          </a:xfrm>
          <a:custGeom>
            <a:avLst/>
            <a:gdLst/>
            <a:ahLst/>
            <a:cxnLst/>
            <a:rect r="r" b="b" t="t" l="l"/>
            <a:pathLst>
              <a:path h="8233599" w="8233599">
                <a:moveTo>
                  <a:pt x="0" y="0"/>
                </a:moveTo>
                <a:lnTo>
                  <a:pt x="8233599" y="0"/>
                </a:lnTo>
                <a:lnTo>
                  <a:pt x="8233599" y="8233600"/>
                </a:lnTo>
                <a:lnTo>
                  <a:pt x="0" y="8233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4623" y="1982881"/>
            <a:ext cx="6884353" cy="2287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71"/>
              </a:lnSpc>
            </a:pPr>
            <a:r>
              <a:rPr lang="en-US" sz="14874">
                <a:solidFill>
                  <a:srgbClr val="FFFFFF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ZEPTO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4116800" y="4884649"/>
            <a:ext cx="8233599" cy="8233599"/>
          </a:xfrm>
          <a:custGeom>
            <a:avLst/>
            <a:gdLst/>
            <a:ahLst/>
            <a:cxnLst/>
            <a:rect r="r" b="b" t="t" l="l"/>
            <a:pathLst>
              <a:path h="8233599" w="8233599">
                <a:moveTo>
                  <a:pt x="0" y="0"/>
                </a:moveTo>
                <a:lnTo>
                  <a:pt x="8233600" y="0"/>
                </a:lnTo>
                <a:lnTo>
                  <a:pt x="8233600" y="8233600"/>
                </a:lnTo>
                <a:lnTo>
                  <a:pt x="0" y="8233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15888" y="-371482"/>
            <a:ext cx="10272112" cy="10658482"/>
          </a:xfrm>
          <a:custGeom>
            <a:avLst/>
            <a:gdLst/>
            <a:ahLst/>
            <a:cxnLst/>
            <a:rect r="r" b="b" t="t" l="l"/>
            <a:pathLst>
              <a:path h="10658482" w="10272112">
                <a:moveTo>
                  <a:pt x="0" y="0"/>
                </a:moveTo>
                <a:lnTo>
                  <a:pt x="10272112" y="0"/>
                </a:lnTo>
                <a:lnTo>
                  <a:pt x="10272112" y="10658482"/>
                </a:lnTo>
                <a:lnTo>
                  <a:pt x="0" y="106584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808104" y="1255300"/>
            <a:ext cx="1512312" cy="756156"/>
          </a:xfrm>
          <a:custGeom>
            <a:avLst/>
            <a:gdLst/>
            <a:ahLst/>
            <a:cxnLst/>
            <a:rect r="r" b="b" t="t" l="l"/>
            <a:pathLst>
              <a:path h="756156" w="1512312">
                <a:moveTo>
                  <a:pt x="0" y="0"/>
                </a:moveTo>
                <a:lnTo>
                  <a:pt x="1512312" y="0"/>
                </a:lnTo>
                <a:lnTo>
                  <a:pt x="1512312" y="756156"/>
                </a:lnTo>
                <a:lnTo>
                  <a:pt x="0" y="7561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648885" y="7448304"/>
            <a:ext cx="1272341" cy="752271"/>
          </a:xfrm>
          <a:custGeom>
            <a:avLst/>
            <a:gdLst/>
            <a:ahLst/>
            <a:cxnLst/>
            <a:rect r="r" b="b" t="t" l="l"/>
            <a:pathLst>
              <a:path h="752271" w="1272341">
                <a:moveTo>
                  <a:pt x="0" y="0"/>
                </a:moveTo>
                <a:lnTo>
                  <a:pt x="1272341" y="0"/>
                </a:lnTo>
                <a:lnTo>
                  <a:pt x="1272341" y="752272"/>
                </a:lnTo>
                <a:lnTo>
                  <a:pt x="0" y="7522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72182" y="8748545"/>
            <a:ext cx="12379762" cy="1019510"/>
            <a:chOff x="0" y="0"/>
            <a:chExt cx="15544800" cy="12801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448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5544800">
                  <a:moveTo>
                    <a:pt x="0" y="0"/>
                  </a:moveTo>
                  <a:lnTo>
                    <a:pt x="15544800" y="0"/>
                  </a:lnTo>
                  <a:lnTo>
                    <a:pt x="155448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11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0"/>
              <a:ext cx="15544800" cy="1375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67"/>
                </a:lnSpc>
              </a:pPr>
              <a:r>
                <a:rPr lang="en-US" sz="2199" b="true">
                  <a:solidFill>
                    <a:srgbClr val="C9BEE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hands-on SQL project consolidating 15 grocery category datasets</a:t>
              </a:r>
            </a:p>
            <a:p>
              <a:pPr algn="l">
                <a:lnSpc>
                  <a:spcPts val="3167"/>
                </a:lnSpc>
              </a:pPr>
              <a:r>
                <a:rPr lang="en-US" sz="2199" b="true">
                  <a:solidFill>
                    <a:srgbClr val="C9BEE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into one relational database for cleaning &amp; business analysis.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72148" y="5387731"/>
            <a:ext cx="2804109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3"/>
              </a:lnSpc>
              <a:spcBef>
                <a:spcPct val="0"/>
              </a:spcBef>
            </a:pPr>
            <a:r>
              <a:rPr lang="en-US" b="true" sz="3111">
                <a:solidFill>
                  <a:srgbClr val="FCBF49"/>
                </a:solidFill>
                <a:latin typeface="Cambria Bold"/>
                <a:ea typeface="Cambria Bold"/>
                <a:cs typeface="Cambria Bold"/>
                <a:sym typeface="Cambria Bold"/>
              </a:rPr>
              <a:t>PostgreSQL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-458444" y="3826022"/>
            <a:ext cx="826288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  <a:spcBef>
                <a:spcPct val="0"/>
              </a:spcBef>
            </a:pPr>
            <a:r>
              <a:rPr lang="en-US" b="true" sz="36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E-Commerce SQL Data Analysis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8892" y="6083056"/>
            <a:ext cx="2595725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3"/>
              </a:lnSpc>
              <a:spcBef>
                <a:spcPct val="0"/>
              </a:spcBef>
            </a:pPr>
            <a:r>
              <a:rPr lang="en-US" b="true" sz="3111">
                <a:solidFill>
                  <a:srgbClr val="FCBF49"/>
                </a:solidFill>
                <a:latin typeface="Cambria Bold"/>
                <a:ea typeface="Cambria Bold"/>
                <a:cs typeface="Cambria Bold"/>
                <a:sym typeface="Cambria Bold"/>
              </a:rPr>
              <a:t>Data Cleaning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8892" y="6783070"/>
            <a:ext cx="323032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3"/>
              </a:lnSpc>
              <a:spcBef>
                <a:spcPct val="0"/>
              </a:spcBef>
            </a:pPr>
            <a:r>
              <a:rPr lang="en-US" b="true" sz="3111">
                <a:solidFill>
                  <a:srgbClr val="FCBF49"/>
                </a:solidFill>
                <a:latin typeface="Cambria Bold"/>
                <a:ea typeface="Cambria Bold"/>
                <a:cs typeface="Cambria Bold"/>
                <a:sym typeface="Cambria Bold"/>
              </a:rPr>
              <a:t>Business Insights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322570" y="-106476"/>
            <a:ext cx="13199927" cy="10947831"/>
            <a:chOff x="0" y="0"/>
            <a:chExt cx="17599903" cy="145971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339049"/>
              <a:ext cx="4516120" cy="2258060"/>
            </a:xfrm>
            <a:custGeom>
              <a:avLst/>
              <a:gdLst/>
              <a:ahLst/>
              <a:cxnLst/>
              <a:rect r="r" b="b" t="t" l="l"/>
              <a:pathLst>
                <a:path h="2258060" w="4516120">
                  <a:moveTo>
                    <a:pt x="0" y="0"/>
                  </a:moveTo>
                  <a:lnTo>
                    <a:pt x="4516120" y="0"/>
                  </a:lnTo>
                  <a:lnTo>
                    <a:pt x="4516120" y="2258060"/>
                  </a:lnTo>
                  <a:lnTo>
                    <a:pt x="0" y="2258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5667869" y="6344781"/>
              <a:ext cx="2576046" cy="1288023"/>
            </a:xfrm>
            <a:custGeom>
              <a:avLst/>
              <a:gdLst/>
              <a:ahLst/>
              <a:cxnLst/>
              <a:rect r="r" b="b" t="t" l="l"/>
              <a:pathLst>
                <a:path h="1288023" w="2576046">
                  <a:moveTo>
                    <a:pt x="0" y="0"/>
                  </a:moveTo>
                  <a:lnTo>
                    <a:pt x="2576045" y="0"/>
                  </a:lnTo>
                  <a:lnTo>
                    <a:pt x="2576045" y="1288023"/>
                  </a:lnTo>
                  <a:lnTo>
                    <a:pt x="0" y="1288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10800000">
              <a:off x="4310080" y="0"/>
              <a:ext cx="2510795" cy="1255397"/>
            </a:xfrm>
            <a:custGeom>
              <a:avLst/>
              <a:gdLst/>
              <a:ahLst/>
              <a:cxnLst/>
              <a:rect r="r" b="b" t="t" l="l"/>
              <a:pathLst>
                <a:path h="1255397" w="2510795">
                  <a:moveTo>
                    <a:pt x="0" y="0"/>
                  </a:moveTo>
                  <a:lnTo>
                    <a:pt x="2510795" y="0"/>
                  </a:lnTo>
                  <a:lnTo>
                    <a:pt x="2510795" y="1255397"/>
                  </a:lnTo>
                  <a:lnTo>
                    <a:pt x="0" y="1255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96290" y="2940553"/>
            <a:ext cx="9052560" cy="5144512"/>
            <a:chOff x="0" y="0"/>
            <a:chExt cx="12070080" cy="68593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70080" cy="6859350"/>
            </a:xfrm>
            <a:custGeom>
              <a:avLst/>
              <a:gdLst/>
              <a:ahLst/>
              <a:cxnLst/>
              <a:rect r="r" b="b" t="t" l="l"/>
              <a:pathLst>
                <a:path h="6859350" w="12070080">
                  <a:moveTo>
                    <a:pt x="0" y="354031"/>
                  </a:moveTo>
                  <a:cubicBezTo>
                    <a:pt x="0" y="158576"/>
                    <a:pt x="84806" y="0"/>
                    <a:pt x="189335" y="0"/>
                  </a:cubicBezTo>
                  <a:lnTo>
                    <a:pt x="11880745" y="0"/>
                  </a:lnTo>
                  <a:cubicBezTo>
                    <a:pt x="11985274" y="0"/>
                    <a:pt x="12070080" y="158576"/>
                    <a:pt x="12070080" y="354031"/>
                  </a:cubicBezTo>
                  <a:lnTo>
                    <a:pt x="12070080" y="6505318"/>
                  </a:lnTo>
                  <a:cubicBezTo>
                    <a:pt x="12070080" y="6700773"/>
                    <a:pt x="11985274" y="6859350"/>
                    <a:pt x="11880745" y="6859350"/>
                  </a:cubicBezTo>
                  <a:lnTo>
                    <a:pt x="189335" y="6859350"/>
                  </a:lnTo>
                  <a:cubicBezTo>
                    <a:pt x="84806" y="6859350"/>
                    <a:pt x="0" y="6700773"/>
                    <a:pt x="0" y="6505318"/>
                  </a:cubicBezTo>
                  <a:close/>
                </a:path>
              </a:pathLst>
            </a:custGeom>
            <a:solidFill>
              <a:srgbClr val="EDE9FE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64140" y="1562100"/>
            <a:ext cx="6995160" cy="2125980"/>
            <a:chOff x="0" y="0"/>
            <a:chExt cx="9326880" cy="28346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268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9326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180576" y="0"/>
                  </a:lnTo>
                  <a:cubicBezTo>
                    <a:pt x="9261348" y="0"/>
                    <a:pt x="9326880" y="65532"/>
                    <a:pt x="9326880" y="146304"/>
                  </a:cubicBezTo>
                  <a:lnTo>
                    <a:pt x="9326880" y="2688336"/>
                  </a:lnTo>
                  <a:cubicBezTo>
                    <a:pt x="9326880" y="2769108"/>
                    <a:pt x="9261348" y="2834640"/>
                    <a:pt x="9180576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EDE9FE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675620" y="1767840"/>
            <a:ext cx="2194560" cy="1714500"/>
            <a:chOff x="0" y="0"/>
            <a:chExt cx="2926080" cy="228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2608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0237" t="0" r="-50237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2926080" cy="2295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4C1D9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64140" y="4072128"/>
            <a:ext cx="6995160" cy="2125980"/>
            <a:chOff x="0" y="0"/>
            <a:chExt cx="9326880" cy="28346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3268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9326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180576" y="0"/>
                  </a:lnTo>
                  <a:cubicBezTo>
                    <a:pt x="9261348" y="0"/>
                    <a:pt x="9326880" y="65532"/>
                    <a:pt x="9326880" y="146304"/>
                  </a:cubicBezTo>
                  <a:lnTo>
                    <a:pt x="9326880" y="2688336"/>
                  </a:lnTo>
                  <a:cubicBezTo>
                    <a:pt x="9326880" y="2769108"/>
                    <a:pt x="9261348" y="2834640"/>
                    <a:pt x="9180576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EDE9FE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675620" y="4277868"/>
            <a:ext cx="2194560" cy="1714500"/>
            <a:chOff x="0" y="0"/>
            <a:chExt cx="2926080" cy="228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92608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0237" t="0" r="-50237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926080" cy="2295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4C1D9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70180" y="4072128"/>
            <a:ext cx="4114800" cy="2125980"/>
            <a:chOff x="0" y="0"/>
            <a:chExt cx="5486400" cy="2834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86400" cy="2834640"/>
            </a:xfrm>
            <a:custGeom>
              <a:avLst/>
              <a:gdLst/>
              <a:ahLst/>
              <a:cxnLst/>
              <a:rect r="r" b="b" t="t" l="l"/>
              <a:pathLst>
                <a:path h="2834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6290" t="0" r="-1629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0"/>
              <a:ext cx="5486400" cy="2929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499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Unified Product Table</a:t>
              </a:r>
            </a:p>
            <a:p>
              <a:pPr algn="l">
                <a:lnSpc>
                  <a:spcPts val="3449"/>
                </a:lnSpc>
              </a:pPr>
              <a:r>
                <a:rPr lang="en-US" sz="2499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with Foreign Keys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64140" y="6582156"/>
            <a:ext cx="6995160" cy="2125980"/>
            <a:chOff x="0" y="0"/>
            <a:chExt cx="9326880" cy="2834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326880" cy="2834640"/>
            </a:xfrm>
            <a:custGeom>
              <a:avLst/>
              <a:gdLst/>
              <a:ahLst/>
              <a:cxnLst/>
              <a:rect r="r" b="b" t="t" l="l"/>
              <a:pathLst>
                <a:path h="2834640" w="93268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180576" y="0"/>
                  </a:lnTo>
                  <a:cubicBezTo>
                    <a:pt x="9261348" y="0"/>
                    <a:pt x="9326880" y="65532"/>
                    <a:pt x="9326880" y="146304"/>
                  </a:cubicBezTo>
                  <a:lnTo>
                    <a:pt x="9326880" y="2688336"/>
                  </a:lnTo>
                  <a:cubicBezTo>
                    <a:pt x="9326880" y="2769108"/>
                    <a:pt x="9261348" y="2834640"/>
                    <a:pt x="9180576" y="2834640"/>
                  </a:cubicBezTo>
                  <a:lnTo>
                    <a:pt x="146304" y="2834640"/>
                  </a:lnTo>
                  <a:cubicBezTo>
                    <a:pt x="65532" y="2834640"/>
                    <a:pt x="0" y="2769108"/>
                    <a:pt x="0" y="2688336"/>
                  </a:cubicBezTo>
                  <a:close/>
                </a:path>
              </a:pathLst>
            </a:custGeom>
            <a:solidFill>
              <a:srgbClr val="EDE9FE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675620" y="6787896"/>
            <a:ext cx="2194560" cy="1714500"/>
            <a:chOff x="0" y="0"/>
            <a:chExt cx="2926080" cy="2286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92608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0237" t="0" r="-50237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2926080" cy="2295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4C1D9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20+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870180" y="6582156"/>
            <a:ext cx="4114800" cy="2125980"/>
            <a:chOff x="0" y="0"/>
            <a:chExt cx="5486400" cy="28346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86400" cy="2834640"/>
            </a:xfrm>
            <a:custGeom>
              <a:avLst/>
              <a:gdLst/>
              <a:ahLst/>
              <a:cxnLst/>
              <a:rect r="r" b="b" t="t" l="l"/>
              <a:pathLst>
                <a:path h="2834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6290" t="0" r="-1629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95250"/>
              <a:ext cx="5486400" cy="2929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499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 Insight Queries</a:t>
              </a:r>
            </a:p>
            <a:p>
              <a:pPr algn="l">
                <a:lnSpc>
                  <a:spcPts val="3449"/>
                </a:lnSpc>
              </a:pPr>
              <a:r>
                <a:rPr lang="en-US" sz="2499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(Joins, CTEs, Window Fns)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870180" y="1562100"/>
            <a:ext cx="4114800" cy="2125980"/>
            <a:chOff x="0" y="0"/>
            <a:chExt cx="5486400" cy="28346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86400" cy="2834640"/>
            </a:xfrm>
            <a:custGeom>
              <a:avLst/>
              <a:gdLst/>
              <a:ahLst/>
              <a:cxnLst/>
              <a:rect r="r" b="b" t="t" l="l"/>
              <a:pathLst>
                <a:path h="2834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2834640"/>
                  </a:lnTo>
                  <a:lnTo>
                    <a:pt x="0" y="2834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6290" t="0" r="-16290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0"/>
              <a:ext cx="5486400" cy="2929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49"/>
                </a:lnSpc>
              </a:pPr>
              <a:r>
                <a:rPr lang="en-US" sz="2499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 Categories</a:t>
              </a:r>
            </a:p>
            <a:p>
              <a:pPr algn="l">
                <a:lnSpc>
                  <a:spcPts val="3449"/>
                </a:lnSpc>
              </a:pPr>
              <a:r>
                <a:rPr lang="en-US" sz="2499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Combined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80060" y="9671685"/>
            <a:ext cx="8229600" cy="411480"/>
            <a:chOff x="0" y="0"/>
            <a:chExt cx="1097280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Zepto SQL Analysis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7007840" y="9806940"/>
            <a:ext cx="548640" cy="411480"/>
            <a:chOff x="0" y="0"/>
            <a:chExt cx="731520" cy="5486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822960" y="1419225"/>
            <a:ext cx="7886700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17"/>
              </a:lnSpc>
              <a:spcBef>
                <a:spcPct val="0"/>
              </a:spcBef>
            </a:pPr>
            <a:r>
              <a:rPr lang="en-US" b="true" sz="7014">
                <a:solidFill>
                  <a:srgbClr val="4C1D95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Project Objective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28700" y="3431553"/>
            <a:ext cx="8512044" cy="1601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8"/>
              </a:lnSpc>
            </a:pPr>
            <a:r>
              <a:rPr lang="en-US" sz="2300" b="true">
                <a:solidFill>
                  <a:srgbClr val="35146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Zepto's quick-commerce catalog is scattered across 15 separate category datasets — Fruits &amp; Vegetables, Beverages, Personal Care, and more. This project brings them together into a single, clean </a:t>
            </a:r>
          </a:p>
          <a:p>
            <a:pPr algn="l">
              <a:lnSpc>
                <a:spcPts val="3128"/>
              </a:lnSpc>
            </a:pPr>
            <a:r>
              <a:rPr lang="en-US" b="true" sz="2300">
                <a:solidFill>
                  <a:srgbClr val="35146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relational database to answer real merchandising questions.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28700" y="5281714"/>
            <a:ext cx="8512044" cy="1210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8"/>
              </a:lnSpc>
            </a:pPr>
            <a:r>
              <a:rPr lang="en-US" sz="2300" b="true">
                <a:solidFill>
                  <a:srgbClr val="35146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workflow mirrors a real analytics pipeline: schema design, </a:t>
            </a:r>
          </a:p>
          <a:p>
            <a:pPr algn="l">
              <a:lnSpc>
                <a:spcPts val="3128"/>
              </a:lnSpc>
            </a:pPr>
            <a:r>
              <a:rPr lang="en-US" sz="2300" b="true">
                <a:solidFill>
                  <a:srgbClr val="35146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raw data  import, consolidation into one master table, data cleaning</a:t>
            </a:r>
          </a:p>
          <a:p>
            <a:pPr algn="l">
              <a:lnSpc>
                <a:spcPts val="3128"/>
              </a:lnSpc>
            </a:pPr>
            <a:r>
              <a:rPr lang="en-US" b="true" sz="2300">
                <a:solidFill>
                  <a:srgbClr val="35146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and validation, and finally SQL-driven business analysis.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46587" y="-106476"/>
            <a:ext cx="12863317" cy="11279669"/>
            <a:chOff x="0" y="0"/>
            <a:chExt cx="17151090" cy="1503955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81499"/>
              <a:ext cx="4516120" cy="2258060"/>
            </a:xfrm>
            <a:custGeom>
              <a:avLst/>
              <a:gdLst/>
              <a:ahLst/>
              <a:cxnLst/>
              <a:rect r="r" b="b" t="t" l="l"/>
              <a:pathLst>
                <a:path h="2258060" w="4516120">
                  <a:moveTo>
                    <a:pt x="0" y="0"/>
                  </a:moveTo>
                  <a:lnTo>
                    <a:pt x="4516120" y="0"/>
                  </a:lnTo>
                  <a:lnTo>
                    <a:pt x="4516120" y="2258060"/>
                  </a:lnTo>
                  <a:lnTo>
                    <a:pt x="0" y="2258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5219055" y="1683021"/>
              <a:ext cx="2576046" cy="1288023"/>
            </a:xfrm>
            <a:custGeom>
              <a:avLst/>
              <a:gdLst/>
              <a:ahLst/>
              <a:cxnLst/>
              <a:rect r="r" b="b" t="t" l="l"/>
              <a:pathLst>
                <a:path h="1288023" w="2576046">
                  <a:moveTo>
                    <a:pt x="0" y="0"/>
                  </a:moveTo>
                  <a:lnTo>
                    <a:pt x="2576046" y="0"/>
                  </a:lnTo>
                  <a:lnTo>
                    <a:pt x="2576046" y="1288023"/>
                  </a:lnTo>
                  <a:lnTo>
                    <a:pt x="0" y="1288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10800000">
              <a:off x="3744724" y="0"/>
              <a:ext cx="2510795" cy="1255397"/>
            </a:xfrm>
            <a:custGeom>
              <a:avLst/>
              <a:gdLst/>
              <a:ahLst/>
              <a:cxnLst/>
              <a:rect r="r" b="b" t="t" l="l"/>
              <a:pathLst>
                <a:path h="1255397" w="2510795">
                  <a:moveTo>
                    <a:pt x="0" y="0"/>
                  </a:moveTo>
                  <a:lnTo>
                    <a:pt x="2510795" y="0"/>
                  </a:lnTo>
                  <a:lnTo>
                    <a:pt x="2510795" y="1255397"/>
                  </a:lnTo>
                  <a:lnTo>
                    <a:pt x="0" y="1255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1508760"/>
            <a:ext cx="15773400" cy="548640"/>
            <a:chOff x="0" y="0"/>
            <a:chExt cx="210312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103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6B64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 product categories, unified into one catalog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2400300"/>
            <a:ext cx="384048" cy="384048"/>
            <a:chOff x="0" y="0"/>
            <a:chExt cx="512064" cy="51206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2400300"/>
            <a:ext cx="384048" cy="384048"/>
            <a:chOff x="0" y="0"/>
            <a:chExt cx="512064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12064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44168" y="2359152"/>
            <a:ext cx="4320540" cy="466344"/>
            <a:chOff x="0" y="0"/>
            <a:chExt cx="5760720" cy="6217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760720" cy="621792"/>
            </a:xfrm>
            <a:custGeom>
              <a:avLst/>
              <a:gdLst/>
              <a:ahLst/>
              <a:cxnLst/>
              <a:rect r="r" b="b" t="t" l="l"/>
              <a:pathLst>
                <a:path h="621792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0523" r="0" b="-130523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57607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Fruits &amp; Vegetables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2976372"/>
            <a:ext cx="384048" cy="384048"/>
            <a:chOff x="0" y="0"/>
            <a:chExt cx="512064" cy="5120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2976372"/>
            <a:ext cx="384048" cy="384048"/>
            <a:chOff x="0" y="0"/>
            <a:chExt cx="512064" cy="5120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12064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44168" y="2935224"/>
            <a:ext cx="4320540" cy="466344"/>
            <a:chOff x="0" y="0"/>
            <a:chExt cx="5760720" cy="6217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760720" cy="621792"/>
            </a:xfrm>
            <a:custGeom>
              <a:avLst/>
              <a:gdLst/>
              <a:ahLst/>
              <a:cxnLst/>
              <a:rect r="r" b="b" t="t" l="l"/>
              <a:pathLst>
                <a:path h="621792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0523" r="0" b="-130523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57607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Cooking Essentials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22960" y="3552444"/>
            <a:ext cx="384048" cy="384048"/>
            <a:chOff x="0" y="0"/>
            <a:chExt cx="512064" cy="5120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3552444"/>
            <a:ext cx="384048" cy="384048"/>
            <a:chOff x="0" y="0"/>
            <a:chExt cx="512064" cy="51206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512064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44168" y="3511296"/>
            <a:ext cx="4320540" cy="466344"/>
            <a:chOff x="0" y="0"/>
            <a:chExt cx="5760720" cy="6217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60720" cy="621792"/>
            </a:xfrm>
            <a:custGeom>
              <a:avLst/>
              <a:gdLst/>
              <a:ahLst/>
              <a:cxnLst/>
              <a:rect r="r" b="b" t="t" l="l"/>
              <a:pathLst>
                <a:path h="621792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0523" r="0" b="-13052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7607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Munchies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22960" y="4128516"/>
            <a:ext cx="384048" cy="384048"/>
            <a:chOff x="0" y="0"/>
            <a:chExt cx="512064" cy="5120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22960" y="4128516"/>
            <a:ext cx="384048" cy="384048"/>
            <a:chOff x="0" y="0"/>
            <a:chExt cx="512064" cy="5120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512064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44168" y="4087368"/>
            <a:ext cx="4320540" cy="466344"/>
            <a:chOff x="0" y="0"/>
            <a:chExt cx="5760720" cy="6217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760720" cy="621792"/>
            </a:xfrm>
            <a:custGeom>
              <a:avLst/>
              <a:gdLst/>
              <a:ahLst/>
              <a:cxnLst/>
              <a:rect r="r" b="b" t="t" l="l"/>
              <a:pathLst>
                <a:path h="621792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0523" r="0" b="-13052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7607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Dairy, Bread &amp; Batter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22960" y="4704588"/>
            <a:ext cx="384048" cy="384048"/>
            <a:chOff x="0" y="0"/>
            <a:chExt cx="512064" cy="5120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822960" y="4704588"/>
            <a:ext cx="384048" cy="384048"/>
            <a:chOff x="0" y="0"/>
            <a:chExt cx="512064" cy="51206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512064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44168" y="4663440"/>
            <a:ext cx="4320540" cy="466344"/>
            <a:chOff x="0" y="0"/>
            <a:chExt cx="5760720" cy="62179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760720" cy="621792"/>
            </a:xfrm>
            <a:custGeom>
              <a:avLst/>
              <a:gdLst/>
              <a:ahLst/>
              <a:cxnLst/>
              <a:rect r="r" b="b" t="t" l="l"/>
              <a:pathLst>
                <a:path h="621792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0523" r="0" b="-13052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7607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Beverages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6035040" y="2400300"/>
            <a:ext cx="384048" cy="384048"/>
            <a:chOff x="0" y="0"/>
            <a:chExt cx="512064" cy="5120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6035040" y="2400300"/>
            <a:ext cx="384048" cy="384048"/>
            <a:chOff x="0" y="0"/>
            <a:chExt cx="512064" cy="51206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512064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556248" y="2359152"/>
            <a:ext cx="4320540" cy="466344"/>
            <a:chOff x="0" y="0"/>
            <a:chExt cx="5760720" cy="62179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760720" cy="621792"/>
            </a:xfrm>
            <a:custGeom>
              <a:avLst/>
              <a:gdLst/>
              <a:ahLst/>
              <a:cxnLst/>
              <a:rect r="r" b="b" t="t" l="l"/>
              <a:pathLst>
                <a:path h="621792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0523" r="0" b="-13052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57607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Packaged Food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035040" y="2976372"/>
            <a:ext cx="384048" cy="384048"/>
            <a:chOff x="0" y="0"/>
            <a:chExt cx="512064" cy="51206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035040" y="2976372"/>
            <a:ext cx="384048" cy="384048"/>
            <a:chOff x="0" y="0"/>
            <a:chExt cx="512064" cy="51206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512064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6556248" y="2935224"/>
            <a:ext cx="4320540" cy="466344"/>
            <a:chOff x="0" y="0"/>
            <a:chExt cx="5760720" cy="6217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760720" cy="621792"/>
            </a:xfrm>
            <a:custGeom>
              <a:avLst/>
              <a:gdLst/>
              <a:ahLst/>
              <a:cxnLst/>
              <a:rect r="r" b="b" t="t" l="l"/>
              <a:pathLst>
                <a:path h="621792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0523" r="0" b="-13052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57607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Icecream &amp; Desserts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6035040" y="3552444"/>
            <a:ext cx="384048" cy="384048"/>
            <a:chOff x="0" y="0"/>
            <a:chExt cx="512064" cy="51206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6035040" y="3552444"/>
            <a:ext cx="384048" cy="384048"/>
            <a:chOff x="0" y="0"/>
            <a:chExt cx="512064" cy="51206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512064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6556248" y="3511296"/>
            <a:ext cx="4320540" cy="466344"/>
            <a:chOff x="0" y="0"/>
            <a:chExt cx="5760720" cy="621792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760720" cy="621792"/>
            </a:xfrm>
            <a:custGeom>
              <a:avLst/>
              <a:gdLst/>
              <a:ahLst/>
              <a:cxnLst/>
              <a:rect r="r" b="b" t="t" l="l"/>
              <a:pathLst>
                <a:path h="621792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0523" r="0" b="-130523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57607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Chocolates &amp; Candies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6035040" y="4128516"/>
            <a:ext cx="384048" cy="384048"/>
            <a:chOff x="0" y="0"/>
            <a:chExt cx="512064" cy="51206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6035040" y="4128516"/>
            <a:ext cx="384048" cy="384048"/>
            <a:chOff x="0" y="0"/>
            <a:chExt cx="512064" cy="51206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38100"/>
              <a:ext cx="512064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6556248" y="4087368"/>
            <a:ext cx="4320540" cy="466344"/>
            <a:chOff x="0" y="0"/>
            <a:chExt cx="5760720" cy="621792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760720" cy="621792"/>
            </a:xfrm>
            <a:custGeom>
              <a:avLst/>
              <a:gdLst/>
              <a:ahLst/>
              <a:cxnLst/>
              <a:rect r="r" b="b" t="t" l="l"/>
              <a:pathLst>
                <a:path h="621792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0523" r="0" b="-130523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57607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Meats, Fishes &amp; Eggs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6035040" y="4704588"/>
            <a:ext cx="384048" cy="384048"/>
            <a:chOff x="0" y="0"/>
            <a:chExt cx="512064" cy="51206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6035040" y="4704588"/>
            <a:ext cx="384048" cy="384048"/>
            <a:chOff x="0" y="0"/>
            <a:chExt cx="512064" cy="51206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512064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6556248" y="4663440"/>
            <a:ext cx="4320540" cy="466344"/>
            <a:chOff x="0" y="0"/>
            <a:chExt cx="5760720" cy="6217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760720" cy="621792"/>
            </a:xfrm>
            <a:custGeom>
              <a:avLst/>
              <a:gdLst/>
              <a:ahLst/>
              <a:cxnLst/>
              <a:rect r="r" b="b" t="t" l="l"/>
              <a:pathLst>
                <a:path h="621792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0523" r="0" b="-130523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57607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Biscuits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1247120" y="2400300"/>
            <a:ext cx="384048" cy="384048"/>
            <a:chOff x="0" y="0"/>
            <a:chExt cx="512064" cy="51206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1247120" y="2400300"/>
            <a:ext cx="384048" cy="384048"/>
            <a:chOff x="0" y="0"/>
            <a:chExt cx="512064" cy="51206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512064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11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1768328" y="2359152"/>
            <a:ext cx="4320540" cy="466344"/>
            <a:chOff x="0" y="0"/>
            <a:chExt cx="5760720" cy="62179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760720" cy="621792"/>
            </a:xfrm>
            <a:custGeom>
              <a:avLst/>
              <a:gdLst/>
              <a:ahLst/>
              <a:cxnLst/>
              <a:rect r="r" b="b" t="t" l="l"/>
              <a:pathLst>
                <a:path h="621792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0523" r="0" b="-130523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57607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Personal Care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1247120" y="2976372"/>
            <a:ext cx="384048" cy="384048"/>
            <a:chOff x="0" y="0"/>
            <a:chExt cx="512064" cy="51206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1247120" y="2976372"/>
            <a:ext cx="384048" cy="384048"/>
            <a:chOff x="0" y="0"/>
            <a:chExt cx="512064" cy="512064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512064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12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1768328" y="2935224"/>
            <a:ext cx="4320540" cy="466344"/>
            <a:chOff x="0" y="0"/>
            <a:chExt cx="5760720" cy="621792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5760720" cy="621792"/>
            </a:xfrm>
            <a:custGeom>
              <a:avLst/>
              <a:gdLst/>
              <a:ahLst/>
              <a:cxnLst/>
              <a:rect r="r" b="b" t="t" l="l"/>
              <a:pathLst>
                <a:path h="621792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0523" r="0" b="-130523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57607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Paan Corner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11247120" y="3552444"/>
            <a:ext cx="384048" cy="384048"/>
            <a:chOff x="0" y="0"/>
            <a:chExt cx="512064" cy="51206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1247120" y="3552444"/>
            <a:ext cx="384048" cy="384048"/>
            <a:chOff x="0" y="0"/>
            <a:chExt cx="512064" cy="512064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512064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13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1768328" y="3511296"/>
            <a:ext cx="4320540" cy="466344"/>
            <a:chOff x="0" y="0"/>
            <a:chExt cx="5760720" cy="62179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5760720" cy="621792"/>
            </a:xfrm>
            <a:custGeom>
              <a:avLst/>
              <a:gdLst/>
              <a:ahLst/>
              <a:cxnLst/>
              <a:rect r="r" b="b" t="t" l="l"/>
              <a:pathLst>
                <a:path h="621792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0523" r="0" b="-130523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57607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Home &amp; Cleaning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1247120" y="4128516"/>
            <a:ext cx="384048" cy="384048"/>
            <a:chOff x="0" y="0"/>
            <a:chExt cx="512064" cy="51206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1247120" y="4128516"/>
            <a:ext cx="384048" cy="384048"/>
            <a:chOff x="0" y="0"/>
            <a:chExt cx="512064" cy="512064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512064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14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1768328" y="4087368"/>
            <a:ext cx="4320540" cy="466344"/>
            <a:chOff x="0" y="0"/>
            <a:chExt cx="5760720" cy="621792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5760720" cy="621792"/>
            </a:xfrm>
            <a:custGeom>
              <a:avLst/>
              <a:gdLst/>
              <a:ahLst/>
              <a:cxnLst/>
              <a:rect r="r" b="b" t="t" l="l"/>
              <a:pathLst>
                <a:path h="621792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0523" r="0" b="-130523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38100"/>
              <a:ext cx="57607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Health &amp; Hygiene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1247120" y="4704588"/>
            <a:ext cx="384048" cy="384048"/>
            <a:chOff x="0" y="0"/>
            <a:chExt cx="512064" cy="512064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cubicBezTo>
                    <a:pt x="397383" y="0"/>
                    <a:pt x="512064" y="114681"/>
                    <a:pt x="512064" y="256032"/>
                  </a:cubicBezTo>
                  <a:cubicBezTo>
                    <a:pt x="512064" y="397383"/>
                    <a:pt x="397383" y="512064"/>
                    <a:pt x="256032" y="512064"/>
                  </a:cubicBezTo>
                  <a:cubicBezTo>
                    <a:pt x="114681" y="512064"/>
                    <a:pt x="0" y="397383"/>
                    <a:pt x="0" y="256032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1247120" y="4704588"/>
            <a:ext cx="384048" cy="384048"/>
            <a:chOff x="0" y="0"/>
            <a:chExt cx="512064" cy="512064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512064" cy="512064"/>
            </a:xfrm>
            <a:custGeom>
              <a:avLst/>
              <a:gdLst/>
              <a:ahLst/>
              <a:cxnLst/>
              <a:rect r="r" b="b" t="t" l="l"/>
              <a:pathLst>
                <a:path h="512064" w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-38100"/>
              <a:ext cx="512064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1768328" y="4663440"/>
            <a:ext cx="4320540" cy="466344"/>
            <a:chOff x="0" y="0"/>
            <a:chExt cx="5760720" cy="621792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5760720" cy="621792"/>
            </a:xfrm>
            <a:custGeom>
              <a:avLst/>
              <a:gdLst/>
              <a:ahLst/>
              <a:cxnLst/>
              <a:rect r="r" b="b" t="t" l="l"/>
              <a:pathLst>
                <a:path h="621792" w="5760720">
                  <a:moveTo>
                    <a:pt x="0" y="0"/>
                  </a:moveTo>
                  <a:lnTo>
                    <a:pt x="5760720" y="0"/>
                  </a:lnTo>
                  <a:lnTo>
                    <a:pt x="57607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30523" r="0" b="-130523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38100"/>
              <a:ext cx="5760720" cy="6598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Curated For You</a:t>
              </a:r>
            </a:p>
          </p:txBody>
        </p:sp>
      </p:grpSp>
      <p:grpSp>
        <p:nvGrpSpPr>
          <p:cNvPr name="Group 129" id="129"/>
          <p:cNvGrpSpPr/>
          <p:nvPr/>
        </p:nvGrpSpPr>
        <p:grpSpPr>
          <a:xfrm rot="0">
            <a:off x="822960" y="5554980"/>
            <a:ext cx="16596360" cy="3497580"/>
            <a:chOff x="0" y="0"/>
            <a:chExt cx="22128480" cy="46634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2128480" cy="4663440"/>
            </a:xfrm>
            <a:custGeom>
              <a:avLst/>
              <a:gdLst/>
              <a:ahLst/>
              <a:cxnLst/>
              <a:rect r="r" b="b" t="t" l="l"/>
              <a:pathLst>
                <a:path h="4663440" w="22128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982176" y="0"/>
                  </a:lnTo>
                  <a:cubicBezTo>
                    <a:pt x="22062948" y="0"/>
                    <a:pt x="22128480" y="65532"/>
                    <a:pt x="22128480" y="146304"/>
                  </a:cubicBezTo>
                  <a:lnTo>
                    <a:pt x="22128480" y="4517136"/>
                  </a:lnTo>
                  <a:cubicBezTo>
                    <a:pt x="22128480" y="4597908"/>
                    <a:pt x="22062948" y="4663440"/>
                    <a:pt x="21982176" y="4663440"/>
                  </a:cubicBezTo>
                  <a:lnTo>
                    <a:pt x="146304" y="4663440"/>
                  </a:lnTo>
                  <a:cubicBezTo>
                    <a:pt x="65532" y="4663440"/>
                    <a:pt x="0" y="4597908"/>
                    <a:pt x="0" y="4517136"/>
                  </a:cubicBezTo>
                  <a:close/>
                </a:path>
              </a:pathLst>
            </a:custGeom>
            <a:solidFill>
              <a:srgbClr val="F5F3FF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1234440" y="5829300"/>
            <a:ext cx="10972800" cy="480060"/>
            <a:chOff x="0" y="0"/>
            <a:chExt cx="14630400" cy="64008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Common Schema (every category table)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224915" y="6574155"/>
            <a:ext cx="1851508" cy="595122"/>
            <a:chOff x="0" y="0"/>
            <a:chExt cx="2468677" cy="793496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468626" cy="793496"/>
            </a:xfrm>
            <a:custGeom>
              <a:avLst/>
              <a:gdLst/>
              <a:ahLst/>
              <a:cxnLst/>
              <a:rect r="r" b="b" t="t" l="l"/>
              <a:pathLst>
                <a:path h="793496" w="246862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2071878" y="0"/>
                  </a:lnTo>
                  <a:cubicBezTo>
                    <a:pt x="2290953" y="0"/>
                    <a:pt x="2468626" y="177673"/>
                    <a:pt x="2468626" y="396748"/>
                  </a:cubicBezTo>
                  <a:cubicBezTo>
                    <a:pt x="2468626" y="615823"/>
                    <a:pt x="2291080" y="793496"/>
                    <a:pt x="2071878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C1D95"/>
              </a:solidFill>
              <a:prstDash val="solid"/>
              <a:miter/>
            </a:ln>
          </p:spPr>
        </p:sp>
      </p:grpSp>
      <p:grpSp>
        <p:nvGrpSpPr>
          <p:cNvPr name="Group 136" id="136"/>
          <p:cNvGrpSpPr/>
          <p:nvPr/>
        </p:nvGrpSpPr>
        <p:grpSpPr>
          <a:xfrm rot="0">
            <a:off x="1234440" y="6583680"/>
            <a:ext cx="1832458" cy="576072"/>
            <a:chOff x="0" y="0"/>
            <a:chExt cx="2443277" cy="768096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443276" cy="768096"/>
            </a:xfrm>
            <a:custGeom>
              <a:avLst/>
              <a:gdLst/>
              <a:ahLst/>
              <a:cxnLst/>
              <a:rect r="r" b="b" t="t" l="l"/>
              <a:pathLst>
                <a:path h="768096" w="2443276">
                  <a:moveTo>
                    <a:pt x="0" y="0"/>
                  </a:moveTo>
                  <a:lnTo>
                    <a:pt x="2443276" y="0"/>
                  </a:lnTo>
                  <a:lnTo>
                    <a:pt x="244327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980" r="0" b="-11980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19050"/>
              <a:ext cx="2443277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Product_Name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3304261" y="6574155"/>
            <a:ext cx="765200" cy="595122"/>
            <a:chOff x="0" y="0"/>
            <a:chExt cx="1020267" cy="793496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020318" cy="793496"/>
            </a:xfrm>
            <a:custGeom>
              <a:avLst/>
              <a:gdLst/>
              <a:ahLst/>
              <a:cxnLst/>
              <a:rect r="r" b="b" t="t" l="l"/>
              <a:pathLst>
                <a:path h="793496" w="1020318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623570" y="0"/>
                  </a:lnTo>
                  <a:cubicBezTo>
                    <a:pt x="842645" y="0"/>
                    <a:pt x="1020318" y="177673"/>
                    <a:pt x="1020318" y="396748"/>
                  </a:cubicBezTo>
                  <a:cubicBezTo>
                    <a:pt x="1020318" y="615823"/>
                    <a:pt x="842645" y="793496"/>
                    <a:pt x="623570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C1D95"/>
              </a:solidFill>
              <a:prstDash val="solid"/>
              <a:miter/>
            </a:ln>
          </p:spPr>
        </p:sp>
      </p:grpSp>
      <p:grpSp>
        <p:nvGrpSpPr>
          <p:cNvPr name="Group 141" id="141"/>
          <p:cNvGrpSpPr/>
          <p:nvPr/>
        </p:nvGrpSpPr>
        <p:grpSpPr>
          <a:xfrm rot="0">
            <a:off x="3313786" y="6583680"/>
            <a:ext cx="746150" cy="576072"/>
            <a:chOff x="0" y="0"/>
            <a:chExt cx="994867" cy="768096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994868" cy="768096"/>
            </a:xfrm>
            <a:custGeom>
              <a:avLst/>
              <a:gdLst/>
              <a:ahLst/>
              <a:cxnLst/>
              <a:rect r="r" b="b" t="t" l="l"/>
              <a:pathLst>
                <a:path h="768096" w="994868">
                  <a:moveTo>
                    <a:pt x="0" y="0"/>
                  </a:moveTo>
                  <a:lnTo>
                    <a:pt x="994868" y="0"/>
                  </a:lnTo>
                  <a:lnTo>
                    <a:pt x="994868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49057" t="0" r="-49057" b="0"/>
              </a:stretch>
            </a:blipFill>
          </p:spPr>
        </p:sp>
        <p:sp>
          <p:nvSpPr>
            <p:cNvPr name="TextBox 143" id="143"/>
            <p:cNvSpPr txBox="true"/>
            <p:nvPr/>
          </p:nvSpPr>
          <p:spPr>
            <a:xfrm>
              <a:off x="0" y="-19050"/>
              <a:ext cx="994867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MRP</a:t>
              </a:r>
            </a:p>
          </p:txBody>
        </p:sp>
      </p:grpSp>
      <p:grpSp>
        <p:nvGrpSpPr>
          <p:cNvPr name="Group 144" id="144"/>
          <p:cNvGrpSpPr/>
          <p:nvPr/>
        </p:nvGrpSpPr>
        <p:grpSpPr>
          <a:xfrm rot="0">
            <a:off x="4297299" y="6574155"/>
            <a:ext cx="2334311" cy="595122"/>
            <a:chOff x="0" y="0"/>
            <a:chExt cx="3112414" cy="793496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3112389" cy="793496"/>
            </a:xfrm>
            <a:custGeom>
              <a:avLst/>
              <a:gdLst/>
              <a:ahLst/>
              <a:cxnLst/>
              <a:rect r="r" b="b" t="t" l="l"/>
              <a:pathLst>
                <a:path h="793496" w="3112389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2715641" y="0"/>
                  </a:lnTo>
                  <a:cubicBezTo>
                    <a:pt x="2934716" y="0"/>
                    <a:pt x="3112389" y="177673"/>
                    <a:pt x="3112389" y="396748"/>
                  </a:cubicBezTo>
                  <a:cubicBezTo>
                    <a:pt x="3112389" y="615823"/>
                    <a:pt x="2934716" y="793496"/>
                    <a:pt x="2715641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C1D95"/>
              </a:solidFill>
              <a:prstDash val="solid"/>
              <a:miter/>
            </a:ln>
          </p:spPr>
        </p:sp>
      </p:grpSp>
      <p:grpSp>
        <p:nvGrpSpPr>
          <p:cNvPr name="Group 146" id="146"/>
          <p:cNvGrpSpPr/>
          <p:nvPr/>
        </p:nvGrpSpPr>
        <p:grpSpPr>
          <a:xfrm rot="0">
            <a:off x="4306824" y="6583680"/>
            <a:ext cx="2315261" cy="576072"/>
            <a:chOff x="0" y="0"/>
            <a:chExt cx="3087014" cy="768096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0" y="0"/>
              <a:ext cx="3087014" cy="768096"/>
            </a:xfrm>
            <a:custGeom>
              <a:avLst/>
              <a:gdLst/>
              <a:ahLst/>
              <a:cxnLst/>
              <a:rect r="r" b="b" t="t" l="l"/>
              <a:pathLst>
                <a:path h="768096" w="3087014">
                  <a:moveTo>
                    <a:pt x="0" y="0"/>
                  </a:moveTo>
                  <a:lnTo>
                    <a:pt x="3087014" y="0"/>
                  </a:lnTo>
                  <a:lnTo>
                    <a:pt x="308701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8311" r="0" b="-28311"/>
              </a:stretch>
            </a:blipFill>
          </p:spPr>
        </p:sp>
        <p:sp>
          <p:nvSpPr>
            <p:cNvPr name="TextBox 148" id="148"/>
            <p:cNvSpPr txBox="true"/>
            <p:nvPr/>
          </p:nvSpPr>
          <p:spPr>
            <a:xfrm>
              <a:off x="0" y="-19050"/>
              <a:ext cx="3087014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Discount_Percent</a:t>
              </a:r>
            </a:p>
          </p:txBody>
        </p:sp>
      </p:grpSp>
      <p:grpSp>
        <p:nvGrpSpPr>
          <p:cNvPr name="Group 149" id="149"/>
          <p:cNvGrpSpPr/>
          <p:nvPr/>
        </p:nvGrpSpPr>
        <p:grpSpPr>
          <a:xfrm rot="0">
            <a:off x="6859448" y="6574155"/>
            <a:ext cx="2575712" cy="595122"/>
            <a:chOff x="0" y="0"/>
            <a:chExt cx="3434283" cy="793496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3434334" cy="793496"/>
            </a:xfrm>
            <a:custGeom>
              <a:avLst/>
              <a:gdLst/>
              <a:ahLst/>
              <a:cxnLst/>
              <a:rect r="r" b="b" t="t" l="l"/>
              <a:pathLst>
                <a:path h="793496" w="3434334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3037586" y="0"/>
                  </a:lnTo>
                  <a:cubicBezTo>
                    <a:pt x="3256661" y="0"/>
                    <a:pt x="3434334" y="177673"/>
                    <a:pt x="3434334" y="396748"/>
                  </a:cubicBezTo>
                  <a:cubicBezTo>
                    <a:pt x="3434334" y="615823"/>
                    <a:pt x="3256661" y="793496"/>
                    <a:pt x="3037586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C1D95"/>
              </a:solidFill>
              <a:prstDash val="solid"/>
              <a:miter/>
            </a:ln>
          </p:spPr>
        </p:sp>
      </p:grpSp>
      <p:grpSp>
        <p:nvGrpSpPr>
          <p:cNvPr name="Group 151" id="151"/>
          <p:cNvGrpSpPr/>
          <p:nvPr/>
        </p:nvGrpSpPr>
        <p:grpSpPr>
          <a:xfrm rot="0">
            <a:off x="6868973" y="6583680"/>
            <a:ext cx="2556662" cy="576072"/>
            <a:chOff x="0" y="0"/>
            <a:chExt cx="3408883" cy="768096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3408884" cy="768096"/>
            </a:xfrm>
            <a:custGeom>
              <a:avLst/>
              <a:gdLst/>
              <a:ahLst/>
              <a:cxnLst/>
              <a:rect r="r" b="b" t="t" l="l"/>
              <a:pathLst>
                <a:path h="768096" w="3408884">
                  <a:moveTo>
                    <a:pt x="0" y="0"/>
                  </a:moveTo>
                  <a:lnTo>
                    <a:pt x="3408884" y="0"/>
                  </a:lnTo>
                  <a:lnTo>
                    <a:pt x="3408884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6476" r="0" b="-36476"/>
              </a:stretch>
            </a:blip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19050"/>
              <a:ext cx="3408883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Available_Quantity</a:t>
              </a:r>
            </a:p>
          </p:txBody>
        </p:sp>
      </p:grpSp>
      <p:grpSp>
        <p:nvGrpSpPr>
          <p:cNvPr name="Group 154" id="154"/>
          <p:cNvGrpSpPr/>
          <p:nvPr/>
        </p:nvGrpSpPr>
        <p:grpSpPr>
          <a:xfrm rot="0">
            <a:off x="9662998" y="6574155"/>
            <a:ext cx="3058516" cy="595122"/>
            <a:chOff x="0" y="0"/>
            <a:chExt cx="4078021" cy="793496"/>
          </a:xfrm>
        </p:grpSpPr>
        <p:sp>
          <p:nvSpPr>
            <p:cNvPr name="Freeform 155" id="155"/>
            <p:cNvSpPr/>
            <p:nvPr/>
          </p:nvSpPr>
          <p:spPr>
            <a:xfrm flipH="false" flipV="false" rot="0">
              <a:off x="0" y="0"/>
              <a:ext cx="4077970" cy="793496"/>
            </a:xfrm>
            <a:custGeom>
              <a:avLst/>
              <a:gdLst/>
              <a:ahLst/>
              <a:cxnLst/>
              <a:rect r="r" b="b" t="t" l="l"/>
              <a:pathLst>
                <a:path h="793496" w="4077970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3681222" y="0"/>
                  </a:lnTo>
                  <a:cubicBezTo>
                    <a:pt x="3900297" y="0"/>
                    <a:pt x="4077970" y="177673"/>
                    <a:pt x="4077970" y="396748"/>
                  </a:cubicBezTo>
                  <a:cubicBezTo>
                    <a:pt x="4077970" y="615823"/>
                    <a:pt x="3900297" y="793496"/>
                    <a:pt x="3681222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C1D95"/>
              </a:solidFill>
              <a:prstDash val="solid"/>
              <a:miter/>
            </a:ln>
          </p:spPr>
        </p:sp>
      </p:grpSp>
      <p:grpSp>
        <p:nvGrpSpPr>
          <p:cNvPr name="Group 156" id="156"/>
          <p:cNvGrpSpPr/>
          <p:nvPr/>
        </p:nvGrpSpPr>
        <p:grpSpPr>
          <a:xfrm rot="0">
            <a:off x="9672523" y="6583680"/>
            <a:ext cx="3039466" cy="576072"/>
            <a:chOff x="0" y="0"/>
            <a:chExt cx="4052621" cy="768096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4052620" cy="768096"/>
            </a:xfrm>
            <a:custGeom>
              <a:avLst/>
              <a:gdLst/>
              <a:ahLst/>
              <a:cxnLst/>
              <a:rect r="r" b="b" t="t" l="l"/>
              <a:pathLst>
                <a:path h="768096" w="4052620">
                  <a:moveTo>
                    <a:pt x="0" y="0"/>
                  </a:moveTo>
                  <a:lnTo>
                    <a:pt x="4052620" y="0"/>
                  </a:lnTo>
                  <a:lnTo>
                    <a:pt x="40526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2806" r="0" b="-52806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19050"/>
              <a:ext cx="4052621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Discount_Selling_Price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2949352" y="6574155"/>
            <a:ext cx="2213610" cy="595122"/>
            <a:chOff x="0" y="0"/>
            <a:chExt cx="2951480" cy="793496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2951480" cy="793496"/>
            </a:xfrm>
            <a:custGeom>
              <a:avLst/>
              <a:gdLst/>
              <a:ahLst/>
              <a:cxnLst/>
              <a:rect r="r" b="b" t="t" l="l"/>
              <a:pathLst>
                <a:path h="793496" w="2951480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2554732" y="0"/>
                  </a:lnTo>
                  <a:cubicBezTo>
                    <a:pt x="2773807" y="0"/>
                    <a:pt x="2951480" y="177673"/>
                    <a:pt x="2951480" y="396748"/>
                  </a:cubicBezTo>
                  <a:cubicBezTo>
                    <a:pt x="2951480" y="615823"/>
                    <a:pt x="2773807" y="793496"/>
                    <a:pt x="2554732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C1D95"/>
              </a:solidFill>
              <a:prstDash val="solid"/>
              <a:miter/>
            </a:ln>
          </p:spPr>
        </p:sp>
      </p:grpSp>
      <p:grpSp>
        <p:nvGrpSpPr>
          <p:cNvPr name="Group 161" id="161"/>
          <p:cNvGrpSpPr/>
          <p:nvPr/>
        </p:nvGrpSpPr>
        <p:grpSpPr>
          <a:xfrm rot="0">
            <a:off x="12958877" y="6583680"/>
            <a:ext cx="2194560" cy="576072"/>
            <a:chOff x="0" y="0"/>
            <a:chExt cx="2926080" cy="768096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0" y="0"/>
              <a:ext cx="2926080" cy="768096"/>
            </a:xfrm>
            <a:custGeom>
              <a:avLst/>
              <a:gdLst/>
              <a:ahLst/>
              <a:cxnLst/>
              <a:rect r="r" b="b" t="t" l="l"/>
              <a:pathLst>
                <a:path h="768096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4228" r="0" b="-24228"/>
              </a:stretch>
            </a:blipFill>
          </p:spPr>
        </p:sp>
        <p:sp>
          <p:nvSpPr>
            <p:cNvPr name="TextBox 163" id="163"/>
            <p:cNvSpPr txBox="true"/>
            <p:nvPr/>
          </p:nvSpPr>
          <p:spPr>
            <a:xfrm>
              <a:off x="0" y="-19050"/>
              <a:ext cx="292608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Weighted_In_GMS</a:t>
              </a:r>
            </a:p>
          </p:txBody>
        </p:sp>
      </p:grpSp>
      <p:grpSp>
        <p:nvGrpSpPr>
          <p:cNvPr name="Group 164" id="164"/>
          <p:cNvGrpSpPr/>
          <p:nvPr/>
        </p:nvGrpSpPr>
        <p:grpSpPr>
          <a:xfrm rot="0">
            <a:off x="15390800" y="6574155"/>
            <a:ext cx="1851508" cy="595122"/>
            <a:chOff x="0" y="0"/>
            <a:chExt cx="2468677" cy="793496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2468626" cy="793496"/>
            </a:xfrm>
            <a:custGeom>
              <a:avLst/>
              <a:gdLst/>
              <a:ahLst/>
              <a:cxnLst/>
              <a:rect r="r" b="b" t="t" l="l"/>
              <a:pathLst>
                <a:path h="793496" w="246862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2071878" y="0"/>
                  </a:lnTo>
                  <a:cubicBezTo>
                    <a:pt x="2290953" y="0"/>
                    <a:pt x="2468626" y="177673"/>
                    <a:pt x="2468626" y="396748"/>
                  </a:cubicBezTo>
                  <a:cubicBezTo>
                    <a:pt x="2468626" y="615823"/>
                    <a:pt x="2291080" y="793496"/>
                    <a:pt x="2071878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C1D95"/>
              </a:solidFill>
              <a:prstDash val="solid"/>
              <a:miter/>
            </a:ln>
          </p:spPr>
        </p:sp>
      </p:grpSp>
      <p:grpSp>
        <p:nvGrpSpPr>
          <p:cNvPr name="Group 166" id="166"/>
          <p:cNvGrpSpPr/>
          <p:nvPr/>
        </p:nvGrpSpPr>
        <p:grpSpPr>
          <a:xfrm rot="0">
            <a:off x="15400325" y="6583680"/>
            <a:ext cx="1832458" cy="576072"/>
            <a:chOff x="0" y="0"/>
            <a:chExt cx="2443277" cy="768096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2443276" cy="768096"/>
            </a:xfrm>
            <a:custGeom>
              <a:avLst/>
              <a:gdLst/>
              <a:ahLst/>
              <a:cxnLst/>
              <a:rect r="r" b="b" t="t" l="l"/>
              <a:pathLst>
                <a:path h="768096" w="2443276">
                  <a:moveTo>
                    <a:pt x="0" y="0"/>
                  </a:moveTo>
                  <a:lnTo>
                    <a:pt x="2443276" y="0"/>
                  </a:lnTo>
                  <a:lnTo>
                    <a:pt x="244327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1980" r="0" b="-11980"/>
              </a:stretch>
            </a:blipFill>
          </p:spPr>
        </p:sp>
        <p:sp>
          <p:nvSpPr>
            <p:cNvPr name="TextBox 168" id="168"/>
            <p:cNvSpPr txBox="true"/>
            <p:nvPr/>
          </p:nvSpPr>
          <p:spPr>
            <a:xfrm>
              <a:off x="0" y="-19050"/>
              <a:ext cx="2443277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Out_Of_Stock</a:t>
              </a:r>
            </a:p>
          </p:txBody>
        </p:sp>
      </p:grpSp>
      <p:grpSp>
        <p:nvGrpSpPr>
          <p:cNvPr name="Group 169" id="169"/>
          <p:cNvGrpSpPr/>
          <p:nvPr/>
        </p:nvGrpSpPr>
        <p:grpSpPr>
          <a:xfrm rot="0">
            <a:off x="1224915" y="7397115"/>
            <a:ext cx="1368704" cy="595122"/>
            <a:chOff x="0" y="0"/>
            <a:chExt cx="1824939" cy="793496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0" y="0"/>
              <a:ext cx="1824990" cy="793496"/>
            </a:xfrm>
            <a:custGeom>
              <a:avLst/>
              <a:gdLst/>
              <a:ahLst/>
              <a:cxnLst/>
              <a:rect r="r" b="b" t="t" l="l"/>
              <a:pathLst>
                <a:path h="793496" w="1824990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lnTo>
                    <a:pt x="1428242" y="0"/>
                  </a:lnTo>
                  <a:cubicBezTo>
                    <a:pt x="1647317" y="0"/>
                    <a:pt x="1824990" y="177673"/>
                    <a:pt x="1824990" y="396748"/>
                  </a:cubicBezTo>
                  <a:cubicBezTo>
                    <a:pt x="1824990" y="615823"/>
                    <a:pt x="1647317" y="793496"/>
                    <a:pt x="1428242" y="793496"/>
                  </a:cubicBezTo>
                  <a:lnTo>
                    <a:pt x="396748" y="793496"/>
                  </a:ln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4C1D95"/>
              </a:solidFill>
              <a:prstDash val="solid"/>
              <a:miter/>
            </a:ln>
          </p:spPr>
        </p:sp>
      </p:grpSp>
      <p:grpSp>
        <p:nvGrpSpPr>
          <p:cNvPr name="Group 171" id="171"/>
          <p:cNvGrpSpPr/>
          <p:nvPr/>
        </p:nvGrpSpPr>
        <p:grpSpPr>
          <a:xfrm rot="0">
            <a:off x="1234440" y="7406640"/>
            <a:ext cx="1349654" cy="576072"/>
            <a:chOff x="0" y="0"/>
            <a:chExt cx="1799539" cy="768096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1799540" cy="768096"/>
            </a:xfrm>
            <a:custGeom>
              <a:avLst/>
              <a:gdLst/>
              <a:ahLst/>
              <a:cxnLst/>
              <a:rect r="r" b="b" t="t" l="l"/>
              <a:pathLst>
                <a:path h="768096" w="1799540">
                  <a:moveTo>
                    <a:pt x="0" y="0"/>
                  </a:moveTo>
                  <a:lnTo>
                    <a:pt x="1799540" y="0"/>
                  </a:lnTo>
                  <a:lnTo>
                    <a:pt x="179954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4763" t="0" r="-4763" b="0"/>
              </a:stretch>
            </a:blipFill>
          </p:spPr>
        </p:sp>
        <p:sp>
          <p:nvSpPr>
            <p:cNvPr name="TextBox 173" id="173"/>
            <p:cNvSpPr txBox="true"/>
            <p:nvPr/>
          </p:nvSpPr>
          <p:spPr>
            <a:xfrm>
              <a:off x="0" y="-19050"/>
              <a:ext cx="1799539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Quantity</a:t>
              </a: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1234440" y="8161020"/>
            <a:ext cx="15636240" cy="685800"/>
            <a:chOff x="0" y="0"/>
            <a:chExt cx="20848320" cy="91440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20848320" cy="914400"/>
            </a:xfrm>
            <a:custGeom>
              <a:avLst/>
              <a:gdLst/>
              <a:ahLst/>
              <a:cxnLst/>
              <a:rect r="r" b="b" t="t" l="l"/>
              <a:pathLst>
                <a:path h="914400" w="20848320">
                  <a:moveTo>
                    <a:pt x="0" y="0"/>
                  </a:moveTo>
                  <a:lnTo>
                    <a:pt x="20848320" y="0"/>
                  </a:lnTo>
                  <a:lnTo>
                    <a:pt x="20848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94258" r="0" b="-394258"/>
              </a:stretch>
            </a:blipFill>
          </p:spPr>
        </p:sp>
        <p:sp>
          <p:nvSpPr>
            <p:cNvPr name="TextBox 176" id="176"/>
            <p:cNvSpPr txBox="true"/>
            <p:nvPr/>
          </p:nvSpPr>
          <p:spPr>
            <a:xfrm>
              <a:off x="0" y="-38100"/>
              <a:ext cx="2084832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b="true" sz="2000" i="true">
                  <a:solidFill>
                    <a:srgbClr val="6B6478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Each row also stores a category_id foreign key once consolidated into the master product table.</a:t>
              </a: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822960" y="9806940"/>
            <a:ext cx="8229600" cy="411480"/>
            <a:chOff x="0" y="0"/>
            <a:chExt cx="10972800" cy="54864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79" id="179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Zepto SQL Analysis</a:t>
              </a: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17007840" y="9806940"/>
            <a:ext cx="548640" cy="411480"/>
            <a:chOff x="0" y="0"/>
            <a:chExt cx="731520" cy="548640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182" id="182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sp>
        <p:nvSpPr>
          <p:cNvPr name="TextBox 183" id="183"/>
          <p:cNvSpPr txBox="true"/>
          <p:nvPr/>
        </p:nvSpPr>
        <p:spPr>
          <a:xfrm rot="0">
            <a:off x="822960" y="464966"/>
            <a:ext cx="829818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92"/>
              </a:lnSpc>
              <a:spcBef>
                <a:spcPct val="0"/>
              </a:spcBef>
            </a:pPr>
            <a:r>
              <a:rPr lang="en-US" b="true" sz="5910">
                <a:solidFill>
                  <a:srgbClr val="4C1D95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Dataset Overview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46587" y="-106476"/>
            <a:ext cx="12863317" cy="10696482"/>
            <a:chOff x="0" y="0"/>
            <a:chExt cx="17151090" cy="142619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81499"/>
              <a:ext cx="2960953" cy="1480476"/>
            </a:xfrm>
            <a:custGeom>
              <a:avLst/>
              <a:gdLst/>
              <a:ahLst/>
              <a:cxnLst/>
              <a:rect r="r" b="b" t="t" l="l"/>
              <a:pathLst>
                <a:path h="1480476" w="2960953">
                  <a:moveTo>
                    <a:pt x="0" y="0"/>
                  </a:moveTo>
                  <a:lnTo>
                    <a:pt x="2960953" y="0"/>
                  </a:lnTo>
                  <a:lnTo>
                    <a:pt x="2960953" y="1480477"/>
                  </a:lnTo>
                  <a:lnTo>
                    <a:pt x="0" y="1480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5219055" y="1683021"/>
              <a:ext cx="2576046" cy="1288023"/>
            </a:xfrm>
            <a:custGeom>
              <a:avLst/>
              <a:gdLst/>
              <a:ahLst/>
              <a:cxnLst/>
              <a:rect r="r" b="b" t="t" l="l"/>
              <a:pathLst>
                <a:path h="1288023" w="2576046">
                  <a:moveTo>
                    <a:pt x="0" y="0"/>
                  </a:moveTo>
                  <a:lnTo>
                    <a:pt x="2576046" y="0"/>
                  </a:lnTo>
                  <a:lnTo>
                    <a:pt x="2576046" y="1288023"/>
                  </a:lnTo>
                  <a:lnTo>
                    <a:pt x="0" y="1288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10800000">
              <a:off x="3744724" y="0"/>
              <a:ext cx="2510795" cy="1255397"/>
            </a:xfrm>
            <a:custGeom>
              <a:avLst/>
              <a:gdLst/>
              <a:ahLst/>
              <a:cxnLst/>
              <a:rect r="r" b="b" t="t" l="l"/>
              <a:pathLst>
                <a:path h="1255397" w="2510795">
                  <a:moveTo>
                    <a:pt x="0" y="0"/>
                  </a:moveTo>
                  <a:lnTo>
                    <a:pt x="2510795" y="0"/>
                  </a:lnTo>
                  <a:lnTo>
                    <a:pt x="2510795" y="1255397"/>
                  </a:lnTo>
                  <a:lnTo>
                    <a:pt x="0" y="1255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617220"/>
            <a:ext cx="15773400" cy="960120"/>
            <a:chOff x="0" y="0"/>
            <a:chExt cx="21031200" cy="1280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0312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4C1D9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Database Architecture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1550761"/>
            <a:ext cx="15773400" cy="548640"/>
            <a:chOff x="0" y="0"/>
            <a:chExt cx="210312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103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6B64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From 15 raw tables to one query-ready catalog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52976" y="3010376"/>
            <a:ext cx="4540568" cy="1523048"/>
            <a:chOff x="0" y="0"/>
            <a:chExt cx="6054090" cy="203073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054090" cy="2030730"/>
            </a:xfrm>
            <a:custGeom>
              <a:avLst/>
              <a:gdLst/>
              <a:ahLst/>
              <a:cxnLst/>
              <a:rect r="r" b="b" t="t" l="l"/>
              <a:pathLst>
                <a:path h="2030730" w="6054090">
                  <a:moveTo>
                    <a:pt x="0" y="110744"/>
                  </a:moveTo>
                  <a:cubicBezTo>
                    <a:pt x="0" y="49657"/>
                    <a:pt x="49657" y="0"/>
                    <a:pt x="110744" y="0"/>
                  </a:cubicBezTo>
                  <a:lnTo>
                    <a:pt x="5943346" y="0"/>
                  </a:lnTo>
                  <a:cubicBezTo>
                    <a:pt x="6004560" y="0"/>
                    <a:pt x="6054090" y="49657"/>
                    <a:pt x="6054090" y="110744"/>
                  </a:cubicBezTo>
                  <a:lnTo>
                    <a:pt x="6054090" y="1919986"/>
                  </a:lnTo>
                  <a:cubicBezTo>
                    <a:pt x="6054090" y="1981200"/>
                    <a:pt x="6004433" y="2030730"/>
                    <a:pt x="5943346" y="2030730"/>
                  </a:cubicBezTo>
                  <a:lnTo>
                    <a:pt x="110744" y="2030730"/>
                  </a:lnTo>
                  <a:cubicBezTo>
                    <a:pt x="49530" y="2030730"/>
                    <a:pt x="0" y="1981073"/>
                    <a:pt x="0" y="1919986"/>
                  </a:cubicBezTo>
                  <a:close/>
                </a:path>
              </a:pathLst>
            </a:custGeom>
            <a:solidFill>
              <a:srgbClr val="F5F3FF"/>
            </a:solidFill>
            <a:ln w="14288" cap="sq">
              <a:solidFill>
                <a:srgbClr val="4C1D95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17568" y="3174968"/>
            <a:ext cx="4540568" cy="1523048"/>
            <a:chOff x="0" y="0"/>
            <a:chExt cx="6054090" cy="20307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54090" cy="2030730"/>
            </a:xfrm>
            <a:custGeom>
              <a:avLst/>
              <a:gdLst/>
              <a:ahLst/>
              <a:cxnLst/>
              <a:rect r="r" b="b" t="t" l="l"/>
              <a:pathLst>
                <a:path h="2030730" w="6054090">
                  <a:moveTo>
                    <a:pt x="0" y="110744"/>
                  </a:moveTo>
                  <a:cubicBezTo>
                    <a:pt x="0" y="49657"/>
                    <a:pt x="49657" y="0"/>
                    <a:pt x="110744" y="0"/>
                  </a:cubicBezTo>
                  <a:lnTo>
                    <a:pt x="5943346" y="0"/>
                  </a:lnTo>
                  <a:cubicBezTo>
                    <a:pt x="6004560" y="0"/>
                    <a:pt x="6054090" y="49657"/>
                    <a:pt x="6054090" y="110744"/>
                  </a:cubicBezTo>
                  <a:lnTo>
                    <a:pt x="6054090" y="1919986"/>
                  </a:lnTo>
                  <a:cubicBezTo>
                    <a:pt x="6054090" y="1981200"/>
                    <a:pt x="6004433" y="2030730"/>
                    <a:pt x="5943346" y="2030730"/>
                  </a:cubicBezTo>
                  <a:lnTo>
                    <a:pt x="110744" y="2030730"/>
                  </a:lnTo>
                  <a:cubicBezTo>
                    <a:pt x="49530" y="2030730"/>
                    <a:pt x="0" y="1981073"/>
                    <a:pt x="0" y="1919986"/>
                  </a:cubicBezTo>
                  <a:close/>
                </a:path>
              </a:pathLst>
            </a:custGeom>
            <a:solidFill>
              <a:srgbClr val="F5F3FF"/>
            </a:solidFill>
            <a:ln w="14288" cap="sq">
              <a:solidFill>
                <a:srgbClr val="4C1D95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282160" y="3339560"/>
            <a:ext cx="4540568" cy="1523048"/>
            <a:chOff x="0" y="0"/>
            <a:chExt cx="6054090" cy="203073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054090" cy="2030730"/>
            </a:xfrm>
            <a:custGeom>
              <a:avLst/>
              <a:gdLst/>
              <a:ahLst/>
              <a:cxnLst/>
              <a:rect r="r" b="b" t="t" l="l"/>
              <a:pathLst>
                <a:path h="2030730" w="6054090">
                  <a:moveTo>
                    <a:pt x="0" y="110744"/>
                  </a:moveTo>
                  <a:cubicBezTo>
                    <a:pt x="0" y="49657"/>
                    <a:pt x="49657" y="0"/>
                    <a:pt x="110744" y="0"/>
                  </a:cubicBezTo>
                  <a:lnTo>
                    <a:pt x="5943346" y="0"/>
                  </a:lnTo>
                  <a:cubicBezTo>
                    <a:pt x="6004560" y="0"/>
                    <a:pt x="6054090" y="49657"/>
                    <a:pt x="6054090" y="110744"/>
                  </a:cubicBezTo>
                  <a:lnTo>
                    <a:pt x="6054090" y="1919986"/>
                  </a:lnTo>
                  <a:cubicBezTo>
                    <a:pt x="6054090" y="1981200"/>
                    <a:pt x="6004433" y="2030730"/>
                    <a:pt x="5943346" y="2030730"/>
                  </a:cubicBezTo>
                  <a:lnTo>
                    <a:pt x="110744" y="2030730"/>
                  </a:lnTo>
                  <a:cubicBezTo>
                    <a:pt x="49530" y="2030730"/>
                    <a:pt x="0" y="1981073"/>
                    <a:pt x="0" y="1919986"/>
                  </a:cubicBezTo>
                  <a:close/>
                </a:path>
              </a:pathLst>
            </a:custGeom>
            <a:solidFill>
              <a:srgbClr val="EDE9FE"/>
            </a:solidFill>
            <a:ln w="14288" cap="sq">
              <a:solidFill>
                <a:srgbClr val="4C1D95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467612" y="3573876"/>
            <a:ext cx="3840480" cy="548640"/>
            <a:chOff x="0" y="0"/>
            <a:chExt cx="512064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20640" cy="731520"/>
            </a:xfrm>
            <a:custGeom>
              <a:avLst/>
              <a:gdLst/>
              <a:ahLst/>
              <a:cxnLst/>
              <a:rect r="r" b="b" t="t" l="l"/>
              <a:pathLst>
                <a:path h="7315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51206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 RAW CATEGORY TABLES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121860">
            <a:off x="5958364" y="4091559"/>
            <a:ext cx="1209484" cy="0"/>
          </a:xfrm>
          <a:prstGeom prst="line">
            <a:avLst/>
          </a:prstGeom>
          <a:ln cap="rnd" w="19050">
            <a:solidFill>
              <a:srgbClr val="4C1D95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2" id="22"/>
          <p:cNvGrpSpPr/>
          <p:nvPr/>
        </p:nvGrpSpPr>
        <p:grpSpPr>
          <a:xfrm rot="0">
            <a:off x="7269480" y="2537460"/>
            <a:ext cx="5349240" cy="2880360"/>
            <a:chOff x="0" y="0"/>
            <a:chExt cx="7132320" cy="38404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32320" cy="3840480"/>
            </a:xfrm>
            <a:custGeom>
              <a:avLst/>
              <a:gdLst/>
              <a:ahLst/>
              <a:cxnLst/>
              <a:rect r="r" b="b" t="t" l="l"/>
              <a:pathLst>
                <a:path h="3840480" w="71323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86016" y="0"/>
                  </a:lnTo>
                  <a:cubicBezTo>
                    <a:pt x="7066788" y="0"/>
                    <a:pt x="7132320" y="65532"/>
                    <a:pt x="7132320" y="146304"/>
                  </a:cubicBezTo>
                  <a:lnTo>
                    <a:pt x="7132320" y="3694176"/>
                  </a:lnTo>
                  <a:cubicBezTo>
                    <a:pt x="7132320" y="3774948"/>
                    <a:pt x="7066788" y="3840480"/>
                    <a:pt x="6986016" y="3840480"/>
                  </a:cubicBezTo>
                  <a:lnTo>
                    <a:pt x="146304" y="3840480"/>
                  </a:lnTo>
                  <a:cubicBezTo>
                    <a:pt x="65532" y="3840480"/>
                    <a:pt x="0" y="3774948"/>
                    <a:pt x="0" y="3694176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651966" y="3174968"/>
            <a:ext cx="4526280" cy="411480"/>
            <a:chOff x="0" y="0"/>
            <a:chExt cx="6035040" cy="5486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35040" cy="548640"/>
            </a:xfrm>
            <a:custGeom>
              <a:avLst/>
              <a:gdLst/>
              <a:ahLst/>
              <a:cxnLst/>
              <a:rect r="r" b="b" t="t" l="l"/>
              <a:pathLst>
                <a:path h="54864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603504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i="true">
                  <a:solidFill>
                    <a:srgbClr val="EDE9FE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(master table)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rot="5242440">
            <a:off x="9476403" y="5922645"/>
            <a:ext cx="935384" cy="0"/>
          </a:xfrm>
          <a:prstGeom prst="line">
            <a:avLst/>
          </a:prstGeom>
          <a:ln cap="rnd" w="19050">
            <a:solidFill>
              <a:srgbClr val="4C1D95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8" id="28"/>
          <p:cNvGrpSpPr/>
          <p:nvPr/>
        </p:nvGrpSpPr>
        <p:grpSpPr>
          <a:xfrm rot="0">
            <a:off x="7200900" y="6377940"/>
            <a:ext cx="5486400" cy="1440180"/>
            <a:chOff x="0" y="0"/>
            <a:chExt cx="7315200" cy="1920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0" cy="1920240"/>
            </a:xfrm>
            <a:custGeom>
              <a:avLst/>
              <a:gdLst/>
              <a:ahLst/>
              <a:cxnLst/>
              <a:rect r="r" b="b" t="t" l="l"/>
              <a:pathLst>
                <a:path h="1920240" w="7315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168896" y="0"/>
                  </a:lnTo>
                  <a:cubicBezTo>
                    <a:pt x="7249668" y="0"/>
                    <a:pt x="7315200" y="65532"/>
                    <a:pt x="7315200" y="146304"/>
                  </a:cubicBezTo>
                  <a:lnTo>
                    <a:pt x="7315200" y="1773936"/>
                  </a:lnTo>
                  <a:cubicBezTo>
                    <a:pt x="7315200" y="1854708"/>
                    <a:pt x="7249668" y="1920240"/>
                    <a:pt x="7168896" y="1920240"/>
                  </a:cubicBezTo>
                  <a:lnTo>
                    <a:pt x="146304" y="1920240"/>
                  </a:lnTo>
                  <a:cubicBezTo>
                    <a:pt x="65532" y="1920240"/>
                    <a:pt x="0" y="1854708"/>
                    <a:pt x="0" y="1773936"/>
                  </a:cubicBezTo>
                  <a:close/>
                </a:path>
              </a:pathLst>
            </a:custGeom>
            <a:solidFill>
              <a:srgbClr val="EDE9F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522367" y="6617970"/>
            <a:ext cx="4800600" cy="480060"/>
            <a:chOff x="0" y="0"/>
            <a:chExt cx="6400800" cy="6400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00800" cy="640080"/>
            </a:xfrm>
            <a:custGeom>
              <a:avLst/>
              <a:gdLst/>
              <a:ahLst/>
              <a:cxnLst/>
              <a:rect r="r" b="b" t="t" l="l"/>
              <a:pathLst>
                <a:path h="64008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64008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CATEGORIES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373100" y="2537460"/>
            <a:ext cx="3634740" cy="5280660"/>
            <a:chOff x="0" y="0"/>
            <a:chExt cx="4846320" cy="70408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846320" cy="7040880"/>
            </a:xfrm>
            <a:custGeom>
              <a:avLst/>
              <a:gdLst/>
              <a:ahLst/>
              <a:cxnLst/>
              <a:rect r="r" b="b" t="t" l="l"/>
              <a:pathLst>
                <a:path h="7040880" w="48463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4700016" y="0"/>
                  </a:lnTo>
                  <a:cubicBezTo>
                    <a:pt x="4780788" y="0"/>
                    <a:pt x="4846320" y="65532"/>
                    <a:pt x="4846320" y="146304"/>
                  </a:cubicBezTo>
                  <a:lnTo>
                    <a:pt x="4846320" y="6894576"/>
                  </a:lnTo>
                  <a:cubicBezTo>
                    <a:pt x="4846320" y="6975348"/>
                    <a:pt x="4780788" y="7040880"/>
                    <a:pt x="4700016" y="7040880"/>
                  </a:cubicBezTo>
                  <a:lnTo>
                    <a:pt x="146304" y="7040880"/>
                  </a:lnTo>
                  <a:cubicBezTo>
                    <a:pt x="65532" y="7040880"/>
                    <a:pt x="0" y="6975348"/>
                    <a:pt x="0" y="6894576"/>
                  </a:cubicBezTo>
                  <a:close/>
                </a:path>
              </a:pathLst>
            </a:custGeom>
            <a:solidFill>
              <a:srgbClr val="F5F3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716000" y="2993208"/>
            <a:ext cx="2948940" cy="1129308"/>
            <a:chOff x="0" y="0"/>
            <a:chExt cx="3931920" cy="150574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931920" cy="1505744"/>
            </a:xfrm>
            <a:custGeom>
              <a:avLst/>
              <a:gdLst/>
              <a:ahLst/>
              <a:cxnLst/>
              <a:rect r="r" b="b" t="t" l="l"/>
              <a:pathLst>
                <a:path h="1505744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505744"/>
                  </a:lnTo>
                  <a:lnTo>
                    <a:pt x="0" y="150574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9626" r="0" b="2786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3931920" cy="15628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CONSOLIDATE?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467612" y="4122516"/>
            <a:ext cx="3840480" cy="658368"/>
            <a:chOff x="0" y="0"/>
            <a:chExt cx="5120640" cy="87782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120640" cy="877824"/>
            </a:xfrm>
            <a:custGeom>
              <a:avLst/>
              <a:gdLst/>
              <a:ahLst/>
              <a:cxnLst/>
              <a:rect r="r" b="b" t="t" l="l"/>
              <a:pathLst>
                <a:path h="877824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1579" r="0" b="-6574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5120640" cy="9159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6B64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Fruits_and_Vegetables, Cooking_Essentials, dairy, beverage …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659527" y="3587507"/>
            <a:ext cx="4526280" cy="1555993"/>
            <a:chOff x="0" y="0"/>
            <a:chExt cx="6035040" cy="207465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35040" cy="2074657"/>
            </a:xfrm>
            <a:custGeom>
              <a:avLst/>
              <a:gdLst/>
              <a:ahLst/>
              <a:cxnLst/>
              <a:rect r="r" b="b" t="t" l="l"/>
              <a:pathLst>
                <a:path h="2074657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2074657"/>
                  </a:lnTo>
                  <a:lnTo>
                    <a:pt x="0" y="207465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605" r="0" b="-75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6035040" cy="21508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8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Product_id (PK)</a:t>
              </a:r>
            </a:p>
            <a:p>
              <a:pPr algn="l">
                <a:lnSpc>
                  <a:spcPts val="2448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Product_Name, MRP, Discount_Percent</a:t>
              </a:r>
            </a:p>
            <a:p>
              <a:pPr algn="l">
                <a:lnSpc>
                  <a:spcPts val="2448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Available_Quantity, Discount_Selling_Price</a:t>
              </a:r>
            </a:p>
            <a:p>
              <a:pPr algn="l">
                <a:lnSpc>
                  <a:spcPts val="2448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Weighted_In_GMS, Out_Of_Stock, Quantity</a:t>
              </a:r>
            </a:p>
            <a:p>
              <a:pPr algn="l">
                <a:lnSpc>
                  <a:spcPts val="2448"/>
                </a:lnSpc>
              </a:pPr>
              <a:r>
                <a:rPr lang="en-US" sz="1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category_id (FK)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543800" y="7063740"/>
            <a:ext cx="4800600" cy="548640"/>
            <a:chOff x="0" y="0"/>
            <a:chExt cx="640080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400800" cy="731520"/>
            </a:xfrm>
            <a:custGeom>
              <a:avLst/>
              <a:gdLst/>
              <a:ahLst/>
              <a:cxnLst/>
              <a:rect r="r" b="b" t="t" l="l"/>
              <a:pathLst>
                <a:path h="731520" w="640080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20494" r="0" b="-12049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6400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category_id (PK)  •  category_name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647420" y="3184364"/>
            <a:ext cx="2948940" cy="4114800"/>
            <a:chOff x="0" y="0"/>
            <a:chExt cx="3931920" cy="5486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931920" cy="5486400"/>
            </a:xfrm>
            <a:custGeom>
              <a:avLst/>
              <a:gdLst/>
              <a:ahLst/>
              <a:cxnLst/>
              <a:rect r="r" b="b" t="t" l="l"/>
              <a:pathLst>
                <a:path h="548640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5486400"/>
                  </a:lnTo>
                  <a:lnTo>
                    <a:pt x="0" y="5486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29028" t="0" r="-129028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931920" cy="5524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307658" indent="-153829" lvl="1">
                <a:lnSpc>
                  <a:spcPts val="2040"/>
                </a:lnSpc>
                <a:buFont typeface="Arial"/>
                <a:buChar char="•"/>
              </a:pPr>
              <a:r>
                <a:rPr lang="en-US" b="true" sz="1700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 table to query instead of 15</a:t>
              </a:r>
            </a:p>
            <a:p>
              <a:pPr algn="l" marL="307658" indent="-153829" lvl="1">
                <a:lnSpc>
                  <a:spcPts val="2040"/>
                </a:lnSpc>
                <a:buFont typeface="Arial"/>
                <a:buChar char="•"/>
              </a:pPr>
              <a:r>
                <a:rPr lang="en-US" b="true" sz="1700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Consistent columns &amp; data types</a:t>
              </a:r>
            </a:p>
            <a:p>
              <a:pPr algn="l" marL="307658" indent="-153829" lvl="1">
                <a:lnSpc>
                  <a:spcPts val="2040"/>
                </a:lnSpc>
                <a:buFont typeface="Arial"/>
                <a:buChar char="•"/>
              </a:pPr>
              <a:r>
                <a:rPr lang="en-US" b="true" sz="1700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category_id links every product back to its category</a:t>
              </a:r>
            </a:p>
            <a:p>
              <a:pPr algn="l" marL="307658" indent="-153829" lvl="1">
                <a:lnSpc>
                  <a:spcPts val="2040"/>
                </a:lnSpc>
                <a:buFont typeface="Arial"/>
                <a:buChar char="•"/>
              </a:pPr>
              <a:r>
                <a:rPr lang="en-US" b="true" sz="1700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Enables cross-category comparison &amp; aggregation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22960" y="9806940"/>
            <a:ext cx="8229600" cy="411480"/>
            <a:chOff x="0" y="0"/>
            <a:chExt cx="10972800" cy="5486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Zepto SQL Analysis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7007840" y="9806940"/>
            <a:ext cx="548640" cy="411480"/>
            <a:chOff x="0" y="0"/>
            <a:chExt cx="73152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sp>
        <p:nvSpPr>
          <p:cNvPr name="Freeform 56" id="56"/>
          <p:cNvSpPr/>
          <p:nvPr/>
        </p:nvSpPr>
        <p:spPr>
          <a:xfrm flipH="true" flipV="false" rot="0">
            <a:off x="3020631" y="5396267"/>
            <a:ext cx="2040156" cy="4295066"/>
          </a:xfrm>
          <a:custGeom>
            <a:avLst/>
            <a:gdLst/>
            <a:ahLst/>
            <a:cxnLst/>
            <a:rect r="r" b="b" t="t" l="l"/>
            <a:pathLst>
              <a:path h="4295066" w="2040156">
                <a:moveTo>
                  <a:pt x="2040156" y="0"/>
                </a:moveTo>
                <a:lnTo>
                  <a:pt x="0" y="0"/>
                </a:lnTo>
                <a:lnTo>
                  <a:pt x="0" y="4295066"/>
                </a:lnTo>
                <a:lnTo>
                  <a:pt x="2040156" y="4295066"/>
                </a:lnTo>
                <a:lnTo>
                  <a:pt x="2040156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7651966" y="2776121"/>
            <a:ext cx="1267321" cy="420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449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PRODUCT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9130615" y="-2873163"/>
            <a:ext cx="137909" cy="13790853"/>
          </a:xfrm>
          <a:custGeom>
            <a:avLst/>
            <a:gdLst/>
            <a:ahLst/>
            <a:cxnLst/>
            <a:rect r="r" b="b" t="t" l="l"/>
            <a:pathLst>
              <a:path h="13790853" w="137909">
                <a:moveTo>
                  <a:pt x="0" y="0"/>
                </a:moveTo>
                <a:lnTo>
                  <a:pt x="137908" y="0"/>
                </a:lnTo>
                <a:lnTo>
                  <a:pt x="137908" y="13790854"/>
                </a:lnTo>
                <a:lnTo>
                  <a:pt x="0" y="137908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w="4762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5746587" y="-106476"/>
            <a:ext cx="12863317" cy="10696482"/>
            <a:chOff x="0" y="0"/>
            <a:chExt cx="17151090" cy="142619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12781499"/>
              <a:ext cx="2960953" cy="1480476"/>
            </a:xfrm>
            <a:custGeom>
              <a:avLst/>
              <a:gdLst/>
              <a:ahLst/>
              <a:cxnLst/>
              <a:rect r="r" b="b" t="t" l="l"/>
              <a:pathLst>
                <a:path h="1480476" w="2960953">
                  <a:moveTo>
                    <a:pt x="0" y="0"/>
                  </a:moveTo>
                  <a:lnTo>
                    <a:pt x="2960953" y="0"/>
                  </a:lnTo>
                  <a:lnTo>
                    <a:pt x="2960953" y="1480477"/>
                  </a:lnTo>
                  <a:lnTo>
                    <a:pt x="0" y="1480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5400000">
              <a:off x="15219055" y="1683021"/>
              <a:ext cx="2576046" cy="1288023"/>
            </a:xfrm>
            <a:custGeom>
              <a:avLst/>
              <a:gdLst/>
              <a:ahLst/>
              <a:cxnLst/>
              <a:rect r="r" b="b" t="t" l="l"/>
              <a:pathLst>
                <a:path h="1288023" w="2576046">
                  <a:moveTo>
                    <a:pt x="0" y="0"/>
                  </a:moveTo>
                  <a:lnTo>
                    <a:pt x="2576046" y="0"/>
                  </a:lnTo>
                  <a:lnTo>
                    <a:pt x="2576046" y="1288023"/>
                  </a:lnTo>
                  <a:lnTo>
                    <a:pt x="0" y="1288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50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-10800000">
              <a:off x="3744724" y="0"/>
              <a:ext cx="2510795" cy="1255397"/>
            </a:xfrm>
            <a:custGeom>
              <a:avLst/>
              <a:gdLst/>
              <a:ahLst/>
              <a:cxnLst/>
              <a:rect r="r" b="b" t="t" l="l"/>
              <a:pathLst>
                <a:path h="1255397" w="2510795">
                  <a:moveTo>
                    <a:pt x="0" y="0"/>
                  </a:moveTo>
                  <a:lnTo>
                    <a:pt x="2510795" y="0"/>
                  </a:lnTo>
                  <a:lnTo>
                    <a:pt x="2510795" y="1255397"/>
                  </a:lnTo>
                  <a:lnTo>
                    <a:pt x="0" y="1255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1967103"/>
            <a:ext cx="15773400" cy="548640"/>
            <a:chOff x="0" y="0"/>
            <a:chExt cx="21031200" cy="7315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2103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 b="true">
                  <a:solidFill>
                    <a:srgbClr val="6B64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Five stages from raw CSVs to business insight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54822" y="3334893"/>
            <a:ext cx="1303020" cy="1303020"/>
            <a:chOff x="0" y="0"/>
            <a:chExt cx="1737360" cy="1737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2201824" y="3559095"/>
            <a:ext cx="824865" cy="824865"/>
            <a:chOff x="0" y="0"/>
            <a:chExt cx="1737360" cy="17373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76200"/>
              <a:ext cx="1737360" cy="1813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74762" y="4912233"/>
            <a:ext cx="2263140" cy="548640"/>
            <a:chOff x="0" y="0"/>
            <a:chExt cx="301752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01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Schema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00442" y="5488305"/>
            <a:ext cx="2811780" cy="1371600"/>
            <a:chOff x="0" y="0"/>
            <a:chExt cx="3749040" cy="1828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490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2587" t="0" r="-12587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374904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21"/>
                </a:lnSpc>
              </a:pPr>
              <a:r>
                <a:rPr lang="en-US" sz="1899" b="true">
                  <a:solidFill>
                    <a:srgbClr val="6B64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Create categories &amp; </a:t>
              </a:r>
            </a:p>
            <a:p>
              <a:pPr algn="ctr">
                <a:lnSpc>
                  <a:spcPts val="2621"/>
                </a:lnSpc>
              </a:pPr>
              <a:r>
                <a:rPr lang="en-US" sz="1899" b="true">
                  <a:solidFill>
                    <a:srgbClr val="6B64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per-category </a:t>
              </a:r>
            </a:p>
            <a:p>
              <a:pPr algn="ctr">
                <a:lnSpc>
                  <a:spcPts val="2621"/>
                </a:lnSpc>
              </a:pPr>
              <a:r>
                <a:rPr lang="en-US" sz="1899" b="true">
                  <a:solidFill>
                    <a:srgbClr val="6B64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staging tables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250504" y="3334893"/>
            <a:ext cx="1303020" cy="1303020"/>
            <a:chOff x="0" y="0"/>
            <a:chExt cx="1737360" cy="17373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351468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491808" y="3567946"/>
            <a:ext cx="820412" cy="820412"/>
            <a:chOff x="0" y="0"/>
            <a:chExt cx="1737360" cy="1737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1737360" cy="1813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770444" y="4912233"/>
            <a:ext cx="2263140" cy="548640"/>
            <a:chOff x="0" y="0"/>
            <a:chExt cx="3017520" cy="73152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301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Import CSVs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4496124" y="5488305"/>
            <a:ext cx="2811780" cy="1371600"/>
            <a:chOff x="0" y="0"/>
            <a:chExt cx="3749040" cy="1828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7490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2587" t="0" r="-12587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374904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21"/>
                </a:lnSpc>
              </a:pPr>
              <a:r>
                <a:rPr lang="en-US" sz="1899" b="true">
                  <a:solidFill>
                    <a:srgbClr val="6B64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Load 15 datasets </a:t>
              </a:r>
            </a:p>
            <a:p>
              <a:pPr algn="ctr">
                <a:lnSpc>
                  <a:spcPts val="2621"/>
                </a:lnSpc>
              </a:pPr>
              <a:r>
                <a:rPr lang="en-US" sz="1899" b="true">
                  <a:solidFill>
                    <a:srgbClr val="6B64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via pgAdmin </a:t>
              </a:r>
            </a:p>
            <a:p>
              <a:pPr algn="ctr">
                <a:lnSpc>
                  <a:spcPts val="2621"/>
                </a:lnSpc>
              </a:pPr>
              <a:r>
                <a:rPr lang="en-US" sz="1899" b="true">
                  <a:solidFill>
                    <a:srgbClr val="6B64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Import/Export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8548059" y="3334893"/>
            <a:ext cx="1303020" cy="1303020"/>
            <a:chOff x="0" y="0"/>
            <a:chExt cx="1737360" cy="1737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800892" y="3587726"/>
            <a:ext cx="797354" cy="797354"/>
            <a:chOff x="0" y="0"/>
            <a:chExt cx="1737360" cy="173736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76200"/>
              <a:ext cx="1737360" cy="1813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067999" y="4912233"/>
            <a:ext cx="2263140" cy="548640"/>
            <a:chOff x="0" y="0"/>
            <a:chExt cx="3017520" cy="7315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301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Consolidate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793679" y="5488305"/>
            <a:ext cx="2811780" cy="1371600"/>
            <a:chOff x="0" y="0"/>
            <a:chExt cx="3749040" cy="1828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7490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2587" t="0" r="-12587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76200"/>
              <a:ext cx="374904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21"/>
                </a:lnSpc>
              </a:pPr>
              <a:r>
                <a:rPr lang="en-US" sz="1899" b="true">
                  <a:solidFill>
                    <a:srgbClr val="6B64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Merge all 15 </a:t>
              </a:r>
            </a:p>
            <a:p>
              <a:pPr algn="ctr">
                <a:lnSpc>
                  <a:spcPts val="2621"/>
                </a:lnSpc>
              </a:pPr>
              <a:r>
                <a:rPr lang="en-US" sz="1899" b="true">
                  <a:solidFill>
                    <a:srgbClr val="6B64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tables into one</a:t>
              </a:r>
            </a:p>
            <a:p>
              <a:pPr algn="ctr">
                <a:lnSpc>
                  <a:spcPts val="2621"/>
                </a:lnSpc>
              </a:pPr>
              <a:r>
                <a:rPr lang="en-US" sz="1899" b="true">
                  <a:solidFill>
                    <a:srgbClr val="6B64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product table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1748135" y="3334893"/>
            <a:ext cx="1303020" cy="1303020"/>
            <a:chOff x="0" y="0"/>
            <a:chExt cx="1737360" cy="17373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351468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015159" y="3559095"/>
            <a:ext cx="788430" cy="788430"/>
            <a:chOff x="0" y="0"/>
            <a:chExt cx="1737360" cy="17373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76200"/>
              <a:ext cx="1737360" cy="1813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268075" y="4912233"/>
            <a:ext cx="2263140" cy="548640"/>
            <a:chOff x="0" y="0"/>
            <a:chExt cx="3017520" cy="7315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301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Clean Data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993755" y="5488305"/>
            <a:ext cx="2811780" cy="1371600"/>
            <a:chOff x="0" y="0"/>
            <a:chExt cx="3749040" cy="1828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7490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2587" t="0" r="-12587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76200"/>
              <a:ext cx="374904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21"/>
                </a:lnSpc>
              </a:pPr>
              <a:r>
                <a:rPr lang="en-US" sz="1899" b="true">
                  <a:solidFill>
                    <a:srgbClr val="6B64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Remove invalid </a:t>
              </a:r>
            </a:p>
            <a:p>
              <a:pPr algn="ctr">
                <a:lnSpc>
                  <a:spcPts val="2621"/>
                </a:lnSpc>
              </a:pPr>
              <a:r>
                <a:rPr lang="en-US" sz="1899" b="true">
                  <a:solidFill>
                    <a:srgbClr val="6B64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rows, fix units,</a:t>
              </a:r>
            </a:p>
            <a:p>
              <a:pPr algn="ctr">
                <a:lnSpc>
                  <a:spcPts val="2621"/>
                </a:lnSpc>
              </a:pPr>
              <a:r>
                <a:rPr lang="en-US" sz="1899" b="true">
                  <a:solidFill>
                    <a:srgbClr val="6B64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backup, validate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950440" y="3334893"/>
            <a:ext cx="1303020" cy="1303020"/>
            <a:chOff x="0" y="0"/>
            <a:chExt cx="1737360" cy="17373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868680"/>
                  </a:moveTo>
                  <a:cubicBezTo>
                    <a:pt x="0" y="388874"/>
                    <a:pt x="388874" y="0"/>
                    <a:pt x="868680" y="0"/>
                  </a:cubicBezTo>
                  <a:cubicBezTo>
                    <a:pt x="1348486" y="0"/>
                    <a:pt x="1737360" y="388874"/>
                    <a:pt x="1737360" y="868680"/>
                  </a:cubicBezTo>
                  <a:cubicBezTo>
                    <a:pt x="1737360" y="1348486"/>
                    <a:pt x="1348486" y="1737360"/>
                    <a:pt x="868680" y="1737360"/>
                  </a:cubicBezTo>
                  <a:cubicBezTo>
                    <a:pt x="388874" y="1737360"/>
                    <a:pt x="0" y="1348486"/>
                    <a:pt x="0" y="868680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5203359" y="3579561"/>
            <a:ext cx="797181" cy="797181"/>
            <a:chOff x="0" y="0"/>
            <a:chExt cx="1737360" cy="17373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37360" cy="1737360"/>
            </a:xfrm>
            <a:custGeom>
              <a:avLst/>
              <a:gdLst/>
              <a:ahLst/>
              <a:cxnLst/>
              <a:rect r="r" b="b" t="t" l="l"/>
              <a:pathLst>
                <a:path h="1737360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76200"/>
              <a:ext cx="1737360" cy="1813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4470380" y="4912233"/>
            <a:ext cx="2263140" cy="548640"/>
            <a:chOff x="0" y="0"/>
            <a:chExt cx="301752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3017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Analyze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4196060" y="5488305"/>
            <a:ext cx="2811780" cy="1371600"/>
            <a:chOff x="0" y="0"/>
            <a:chExt cx="3749040" cy="1828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7490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3749040">
                  <a:moveTo>
                    <a:pt x="0" y="0"/>
                  </a:moveTo>
                  <a:lnTo>
                    <a:pt x="3749040" y="0"/>
                  </a:lnTo>
                  <a:lnTo>
                    <a:pt x="374904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12587" t="0" r="-12587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76200"/>
              <a:ext cx="374904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21"/>
                </a:lnSpc>
              </a:pPr>
              <a:r>
                <a:rPr lang="en-US" sz="1899" b="true">
                  <a:solidFill>
                    <a:srgbClr val="6B64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 SQL queries </a:t>
              </a:r>
            </a:p>
            <a:p>
              <a:pPr algn="ctr">
                <a:lnSpc>
                  <a:spcPts val="2621"/>
                </a:lnSpc>
              </a:pPr>
              <a:r>
                <a:rPr lang="en-US" sz="1899" b="true">
                  <a:solidFill>
                    <a:srgbClr val="6B64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 business </a:t>
              </a:r>
            </a:p>
            <a:p>
              <a:pPr algn="ctr">
                <a:lnSpc>
                  <a:spcPts val="2621"/>
                </a:lnSpc>
              </a:pPr>
              <a:r>
                <a:rPr lang="en-US" sz="1899" b="true">
                  <a:solidFill>
                    <a:srgbClr val="6B64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insights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60120" y="7612380"/>
            <a:ext cx="16322040" cy="1645920"/>
            <a:chOff x="0" y="0"/>
            <a:chExt cx="21762720" cy="21945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17627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7627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1616415" y="0"/>
                  </a:lnTo>
                  <a:cubicBezTo>
                    <a:pt x="21697187" y="0"/>
                    <a:pt x="21762720" y="65532"/>
                    <a:pt x="21762720" y="146304"/>
                  </a:cubicBezTo>
                  <a:lnTo>
                    <a:pt x="21762720" y="2048256"/>
                  </a:lnTo>
                  <a:cubicBezTo>
                    <a:pt x="21762720" y="2129028"/>
                    <a:pt x="21697187" y="2194560"/>
                    <a:pt x="21616415" y="2194560"/>
                  </a:cubicBezTo>
                  <a:lnTo>
                    <a:pt x="146304" y="2194560"/>
                  </a:lnTo>
                  <a:cubicBezTo>
                    <a:pt x="65532" y="2194560"/>
                    <a:pt x="0" y="2129028"/>
                    <a:pt x="0" y="2048256"/>
                  </a:cubicBezTo>
                  <a:close/>
                </a:path>
              </a:pathLst>
            </a:custGeom>
            <a:solidFill>
              <a:srgbClr val="F5F3FF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371600" y="7886700"/>
            <a:ext cx="15499080" cy="1165860"/>
            <a:chOff x="0" y="0"/>
            <a:chExt cx="20665440" cy="15544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06654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9036" r="0" b="-20903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76200"/>
              <a:ext cx="20665440" cy="16306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0"/>
                </a:lnSpc>
              </a:pPr>
              <a:r>
                <a:rPr lang="en-US" b="true" sz="2000" i="true">
                  <a:solidFill>
                    <a:srgbClr val="351468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Every stage was verified before moving to the next — e.g. a full product_backup table was taken before any cleaning ran, so mistakes were always recoverable.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822960" y="9806940"/>
            <a:ext cx="8229600" cy="411480"/>
            <a:chOff x="0" y="0"/>
            <a:chExt cx="10972800" cy="5486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Zepto SQL Analysis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7007840" y="9806940"/>
            <a:ext cx="548640" cy="411480"/>
            <a:chOff x="0" y="0"/>
            <a:chExt cx="731520" cy="5486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822960" y="809417"/>
            <a:ext cx="9508179" cy="11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7"/>
              </a:lnSpc>
              <a:spcBef>
                <a:spcPct val="0"/>
              </a:spcBef>
            </a:pPr>
            <a:r>
              <a:rPr lang="en-US" b="true" sz="6672">
                <a:solidFill>
                  <a:srgbClr val="4C1D95"/>
                </a:solidFill>
                <a:latin typeface="Times New Roman MT Condensed Bold"/>
                <a:ea typeface="Times New Roman MT Condensed Bold"/>
                <a:cs typeface="Times New Roman MT Condensed Bold"/>
                <a:sym typeface="Times New Roman MT Condensed Bold"/>
              </a:rPr>
              <a:t>Project Workflow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42201" y="-108729"/>
            <a:ext cx="12863317" cy="10696482"/>
            <a:chOff x="0" y="0"/>
            <a:chExt cx="17151090" cy="142619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81499"/>
              <a:ext cx="2960953" cy="1480476"/>
            </a:xfrm>
            <a:custGeom>
              <a:avLst/>
              <a:gdLst/>
              <a:ahLst/>
              <a:cxnLst/>
              <a:rect r="r" b="b" t="t" l="l"/>
              <a:pathLst>
                <a:path h="1480476" w="2960953">
                  <a:moveTo>
                    <a:pt x="0" y="0"/>
                  </a:moveTo>
                  <a:lnTo>
                    <a:pt x="2960953" y="0"/>
                  </a:lnTo>
                  <a:lnTo>
                    <a:pt x="2960953" y="1480477"/>
                  </a:lnTo>
                  <a:lnTo>
                    <a:pt x="0" y="1480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5219055" y="1683021"/>
              <a:ext cx="2576046" cy="1288023"/>
            </a:xfrm>
            <a:custGeom>
              <a:avLst/>
              <a:gdLst/>
              <a:ahLst/>
              <a:cxnLst/>
              <a:rect r="r" b="b" t="t" l="l"/>
              <a:pathLst>
                <a:path h="1288023" w="2576046">
                  <a:moveTo>
                    <a:pt x="0" y="0"/>
                  </a:moveTo>
                  <a:lnTo>
                    <a:pt x="2576046" y="0"/>
                  </a:lnTo>
                  <a:lnTo>
                    <a:pt x="2576046" y="1288023"/>
                  </a:lnTo>
                  <a:lnTo>
                    <a:pt x="0" y="1288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10800000">
              <a:off x="3744724" y="0"/>
              <a:ext cx="2510795" cy="1255397"/>
            </a:xfrm>
            <a:custGeom>
              <a:avLst/>
              <a:gdLst/>
              <a:ahLst/>
              <a:cxnLst/>
              <a:rect r="r" b="b" t="t" l="l"/>
              <a:pathLst>
                <a:path h="1255397" w="2510795">
                  <a:moveTo>
                    <a:pt x="0" y="0"/>
                  </a:moveTo>
                  <a:lnTo>
                    <a:pt x="2510795" y="0"/>
                  </a:lnTo>
                  <a:lnTo>
                    <a:pt x="2510795" y="1255397"/>
                  </a:lnTo>
                  <a:lnTo>
                    <a:pt x="0" y="1255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617220"/>
            <a:ext cx="15773400" cy="960120"/>
            <a:chOff x="0" y="0"/>
            <a:chExt cx="21031200" cy="1280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0312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35146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 Cleaning Highlights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1536122"/>
            <a:ext cx="15773400" cy="605098"/>
            <a:chOff x="0" y="0"/>
            <a:chExt cx="21031200" cy="8067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31200" cy="806797"/>
            </a:xfrm>
            <a:custGeom>
              <a:avLst/>
              <a:gdLst/>
              <a:ahLst/>
              <a:cxnLst/>
              <a:rect r="r" b="b" t="t" l="l"/>
              <a:pathLst>
                <a:path h="80679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2591" r="0" b="-45326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1031200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6B64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Making the raw catalog analysis-ready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0120" y="2537460"/>
            <a:ext cx="960120" cy="960120"/>
            <a:chOff x="0" y="0"/>
            <a:chExt cx="12801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60120" y="2537460"/>
            <a:ext cx="960120" cy="960120"/>
            <a:chOff x="0" y="0"/>
            <a:chExt cx="1280160" cy="12801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28016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₹0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263140" y="2743200"/>
            <a:ext cx="4114800" cy="605098"/>
            <a:chOff x="0" y="0"/>
            <a:chExt cx="5486400" cy="8067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86400" cy="806797"/>
            </a:xfrm>
            <a:custGeom>
              <a:avLst/>
              <a:gdLst/>
              <a:ahLst/>
              <a:cxnLst/>
              <a:rect r="r" b="b" t="t" l="l"/>
              <a:pathLst>
                <a:path h="806797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7167" r="0" b="-7783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5486400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Removed invalid rows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007578" y="2467898"/>
            <a:ext cx="10835640" cy="1371600"/>
            <a:chOff x="0" y="0"/>
            <a:chExt cx="14447520" cy="1828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4475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447520">
                  <a:moveTo>
                    <a:pt x="0" y="0"/>
                  </a:moveTo>
                  <a:lnTo>
                    <a:pt x="14447520" y="0"/>
                  </a:lnTo>
                  <a:lnTo>
                    <a:pt x="144475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3931" r="0" b="-10393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04775"/>
              <a:ext cx="14447520" cy="19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499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Deleted every row where MRP = 0 — a product can never legitimately cost nothing.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 rot="4020">
            <a:off x="950585" y="3972878"/>
            <a:ext cx="16341100" cy="0"/>
          </a:xfrm>
          <a:prstGeom prst="line">
            <a:avLst/>
          </a:prstGeom>
          <a:ln cap="rnd" w="9525">
            <a:solidFill>
              <a:srgbClr val="EDE9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960120" y="4279392"/>
            <a:ext cx="960120" cy="960120"/>
            <a:chOff x="0" y="0"/>
            <a:chExt cx="1280160" cy="12801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84CC1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60120" y="4279392"/>
            <a:ext cx="960120" cy="960120"/>
            <a:chOff x="0" y="0"/>
            <a:chExt cx="1280160" cy="12801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28016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÷100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308860" y="4574286"/>
            <a:ext cx="4114800" cy="605098"/>
            <a:chOff x="0" y="0"/>
            <a:chExt cx="5486400" cy="80679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486400" cy="806797"/>
            </a:xfrm>
            <a:custGeom>
              <a:avLst/>
              <a:gdLst/>
              <a:ahLst/>
              <a:cxnLst/>
              <a:rect r="r" b="b" t="t" l="l"/>
              <a:pathLst>
                <a:path h="806797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7167" r="0" b="-7783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5486400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Paise → Rupees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007578" y="4191035"/>
            <a:ext cx="10835640" cy="1371600"/>
            <a:chOff x="0" y="0"/>
            <a:chExt cx="14447520" cy="1828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44475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447520">
                  <a:moveTo>
                    <a:pt x="0" y="0"/>
                  </a:moveTo>
                  <a:lnTo>
                    <a:pt x="14447520" y="0"/>
                  </a:lnTo>
                  <a:lnTo>
                    <a:pt x="144475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3931" r="0" b="-10393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04775"/>
              <a:ext cx="14447520" cy="19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499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MRP and Discount_Selling_Price were stored in paise; converted both to</a:t>
              </a:r>
            </a:p>
            <a:p>
              <a:pPr algn="l">
                <a:lnSpc>
                  <a:spcPts val="3599"/>
                </a:lnSpc>
              </a:pPr>
              <a:r>
                <a:rPr lang="en-US" sz="2499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rupees for real-world readability.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 rot="4020">
            <a:off x="950585" y="5714810"/>
            <a:ext cx="16341100" cy="0"/>
          </a:xfrm>
          <a:prstGeom prst="line">
            <a:avLst/>
          </a:prstGeom>
          <a:ln cap="rnd" w="9525">
            <a:solidFill>
              <a:srgbClr val="EDE9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960120" y="6021324"/>
            <a:ext cx="960120" cy="960120"/>
            <a:chOff x="0" y="0"/>
            <a:chExt cx="1280160" cy="12801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60120" y="6021324"/>
            <a:ext cx="960120" cy="960120"/>
            <a:chOff x="0" y="0"/>
            <a:chExt cx="1280160" cy="12801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28016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263140" y="6227064"/>
            <a:ext cx="4114800" cy="605098"/>
            <a:chOff x="0" y="0"/>
            <a:chExt cx="5486400" cy="80679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486400" cy="806797"/>
            </a:xfrm>
            <a:custGeom>
              <a:avLst/>
              <a:gdLst/>
              <a:ahLst/>
              <a:cxnLst/>
              <a:rect r="r" b="b" t="t" l="l"/>
              <a:pathLst>
                <a:path h="806797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7167" r="0" b="-7783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5486400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Backup before edits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007578" y="5952964"/>
            <a:ext cx="10835640" cy="1371600"/>
            <a:chOff x="0" y="0"/>
            <a:chExt cx="14447520" cy="1828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44475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447520">
                  <a:moveTo>
                    <a:pt x="0" y="0"/>
                  </a:moveTo>
                  <a:lnTo>
                    <a:pt x="14447520" y="0"/>
                  </a:lnTo>
                  <a:lnTo>
                    <a:pt x="144475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3931" r="0" b="-10393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04775"/>
              <a:ext cx="14447520" cy="19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499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Created product_backup as a full snapshot before any UPDATE or DELETE </a:t>
              </a:r>
            </a:p>
            <a:p>
              <a:pPr algn="l">
                <a:lnSpc>
                  <a:spcPts val="3599"/>
                </a:lnSpc>
              </a:pPr>
              <a:r>
                <a:rPr lang="en-US" sz="2499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 on the live table.</a:t>
              </a:r>
            </a:p>
          </p:txBody>
        </p:sp>
      </p:grpSp>
      <p:sp>
        <p:nvSpPr>
          <p:cNvPr name="AutoShape 47" id="47"/>
          <p:cNvSpPr/>
          <p:nvPr/>
        </p:nvSpPr>
        <p:spPr>
          <a:xfrm rot="4020">
            <a:off x="950585" y="7456742"/>
            <a:ext cx="16341100" cy="0"/>
          </a:xfrm>
          <a:prstGeom prst="line">
            <a:avLst/>
          </a:prstGeom>
          <a:ln cap="rnd" w="9525">
            <a:solidFill>
              <a:srgbClr val="EDE9F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960120" y="7763256"/>
            <a:ext cx="960120" cy="960120"/>
            <a:chOff x="0" y="0"/>
            <a:chExt cx="1280160" cy="12801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84CC16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60120" y="7763256"/>
            <a:ext cx="960120" cy="960120"/>
            <a:chOff x="0" y="0"/>
            <a:chExt cx="1280160" cy="128016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1280160" cy="1337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∅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263140" y="8017002"/>
            <a:ext cx="4114800" cy="605098"/>
            <a:chOff x="0" y="0"/>
            <a:chExt cx="5486400" cy="806797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486400" cy="806797"/>
            </a:xfrm>
            <a:custGeom>
              <a:avLst/>
              <a:gdLst/>
              <a:ahLst/>
              <a:cxnLst/>
              <a:rect r="r" b="b" t="t" l="l"/>
              <a:pathLst>
                <a:path h="806797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7167" r="0" b="-7783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5486400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NULL &amp; duplicate checks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007578" y="7633751"/>
            <a:ext cx="10835640" cy="1371600"/>
            <a:chOff x="0" y="0"/>
            <a:chExt cx="14447520" cy="1828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44752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4447520">
                  <a:moveTo>
                    <a:pt x="0" y="0"/>
                  </a:moveTo>
                  <a:lnTo>
                    <a:pt x="14447520" y="0"/>
                  </a:lnTo>
                  <a:lnTo>
                    <a:pt x="1444752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3931" r="0" b="-103931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04775"/>
              <a:ext cx="14447520" cy="19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499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Verified product_name, mrp and discount_percent had no missing values,</a:t>
              </a:r>
            </a:p>
            <a:p>
              <a:pPr algn="l">
                <a:lnSpc>
                  <a:spcPts val="3599"/>
                </a:lnSpc>
              </a:pPr>
              <a:r>
                <a:rPr lang="en-US" sz="2499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and checked category groupings for anomalies.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22960" y="9806940"/>
            <a:ext cx="8229600" cy="411480"/>
            <a:chOff x="0" y="0"/>
            <a:chExt cx="1097280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Zepto SQL Analysis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7007840" y="9806940"/>
            <a:ext cx="548640" cy="411480"/>
            <a:chOff x="0" y="0"/>
            <a:chExt cx="731520" cy="548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42201" y="-108729"/>
            <a:ext cx="12863317" cy="10696482"/>
            <a:chOff x="0" y="0"/>
            <a:chExt cx="17151090" cy="142619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81499"/>
              <a:ext cx="2960953" cy="1480476"/>
            </a:xfrm>
            <a:custGeom>
              <a:avLst/>
              <a:gdLst/>
              <a:ahLst/>
              <a:cxnLst/>
              <a:rect r="r" b="b" t="t" l="l"/>
              <a:pathLst>
                <a:path h="1480476" w="2960953">
                  <a:moveTo>
                    <a:pt x="0" y="0"/>
                  </a:moveTo>
                  <a:lnTo>
                    <a:pt x="2960953" y="0"/>
                  </a:lnTo>
                  <a:lnTo>
                    <a:pt x="2960953" y="1480477"/>
                  </a:lnTo>
                  <a:lnTo>
                    <a:pt x="0" y="1480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5219055" y="1683021"/>
              <a:ext cx="2576046" cy="1288023"/>
            </a:xfrm>
            <a:custGeom>
              <a:avLst/>
              <a:gdLst/>
              <a:ahLst/>
              <a:cxnLst/>
              <a:rect r="r" b="b" t="t" l="l"/>
              <a:pathLst>
                <a:path h="1288023" w="2576046">
                  <a:moveTo>
                    <a:pt x="0" y="0"/>
                  </a:moveTo>
                  <a:lnTo>
                    <a:pt x="2576046" y="0"/>
                  </a:lnTo>
                  <a:lnTo>
                    <a:pt x="2576046" y="1288023"/>
                  </a:lnTo>
                  <a:lnTo>
                    <a:pt x="0" y="1288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10800000">
              <a:off x="3744724" y="0"/>
              <a:ext cx="2510795" cy="1255397"/>
            </a:xfrm>
            <a:custGeom>
              <a:avLst/>
              <a:gdLst/>
              <a:ahLst/>
              <a:cxnLst/>
              <a:rect r="r" b="b" t="t" l="l"/>
              <a:pathLst>
                <a:path h="1255397" w="2510795">
                  <a:moveTo>
                    <a:pt x="0" y="0"/>
                  </a:moveTo>
                  <a:lnTo>
                    <a:pt x="2510795" y="0"/>
                  </a:lnTo>
                  <a:lnTo>
                    <a:pt x="2510795" y="1255397"/>
                  </a:lnTo>
                  <a:lnTo>
                    <a:pt x="0" y="1255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617220"/>
            <a:ext cx="15773400" cy="960120"/>
            <a:chOff x="0" y="0"/>
            <a:chExt cx="21031200" cy="1280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0312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351468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Core Business Questions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85641" y="1517072"/>
            <a:ext cx="15773400" cy="605098"/>
            <a:chOff x="0" y="0"/>
            <a:chExt cx="21031200" cy="8067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31200" cy="806797"/>
            </a:xfrm>
            <a:custGeom>
              <a:avLst/>
              <a:gdLst/>
              <a:ahLst/>
              <a:cxnLst/>
              <a:rect r="r" b="b" t="t" l="l"/>
              <a:pathLst>
                <a:path h="806797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62591" r="0" b="-45326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21031200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6B647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the base analysis answers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2331720"/>
            <a:ext cx="5308092" cy="2948940"/>
            <a:chOff x="0" y="0"/>
            <a:chExt cx="7077456" cy="393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77456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774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31152" y="0"/>
                  </a:lnTo>
                  <a:cubicBezTo>
                    <a:pt x="7011924" y="0"/>
                    <a:pt x="7077456" y="65532"/>
                    <a:pt x="7077456" y="146304"/>
                  </a:cubicBezTo>
                  <a:lnTo>
                    <a:pt x="7077456" y="3785616"/>
                  </a:lnTo>
                  <a:cubicBezTo>
                    <a:pt x="7077456" y="3866388"/>
                    <a:pt x="7011924" y="3931920"/>
                    <a:pt x="6931152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F5F3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65860" y="2674620"/>
            <a:ext cx="685800" cy="685800"/>
            <a:chOff x="0" y="0"/>
            <a:chExt cx="9144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65860" y="2674620"/>
            <a:ext cx="685800" cy="685800"/>
            <a:chOff x="0" y="0"/>
            <a:chExt cx="91440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65860" y="3566160"/>
            <a:ext cx="4622292" cy="605098"/>
            <a:chOff x="0" y="0"/>
            <a:chExt cx="6163056" cy="8067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63056" cy="806797"/>
            </a:xfrm>
            <a:custGeom>
              <a:avLst/>
              <a:gdLst/>
              <a:ahLst/>
              <a:cxnLst/>
              <a:rect r="r" b="b" t="t" l="l"/>
              <a:pathLst>
                <a:path h="806797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3509" r="0" b="-9417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6163056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Price Extremes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65860" y="4056507"/>
            <a:ext cx="4622292" cy="797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292524"/>
                </a:solidFill>
                <a:latin typeface="Calibri (MS)"/>
                <a:ea typeface="Calibri (MS)"/>
                <a:cs typeface="Calibri (MS)"/>
                <a:sym typeface="Calibri (MS)"/>
              </a:rPr>
              <a:t>Which products are the most expensive and cheapest in the catalog?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377940" y="2331720"/>
            <a:ext cx="5308092" cy="2948940"/>
            <a:chOff x="0" y="0"/>
            <a:chExt cx="7077456" cy="39319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77456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774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31152" y="0"/>
                  </a:lnTo>
                  <a:cubicBezTo>
                    <a:pt x="7011924" y="0"/>
                    <a:pt x="7077456" y="65532"/>
                    <a:pt x="7077456" y="146304"/>
                  </a:cubicBezTo>
                  <a:lnTo>
                    <a:pt x="7077456" y="3785616"/>
                  </a:lnTo>
                  <a:cubicBezTo>
                    <a:pt x="7077456" y="3866388"/>
                    <a:pt x="7011924" y="3931920"/>
                    <a:pt x="6931152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F5F3F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720840" y="2674620"/>
            <a:ext cx="685800" cy="685800"/>
            <a:chOff x="0" y="0"/>
            <a:chExt cx="91440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720840" y="2674620"/>
            <a:ext cx="685800" cy="685800"/>
            <a:chOff x="0" y="0"/>
            <a:chExt cx="91440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720840" y="3566160"/>
            <a:ext cx="4622292" cy="605098"/>
            <a:chOff x="0" y="0"/>
            <a:chExt cx="6163056" cy="80679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163056" cy="806797"/>
            </a:xfrm>
            <a:custGeom>
              <a:avLst/>
              <a:gdLst/>
              <a:ahLst/>
              <a:cxnLst/>
              <a:rect r="r" b="b" t="t" l="l"/>
              <a:pathLst>
                <a:path h="806797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3509" r="0" b="-9417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6163056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Discount Leaders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6720840" y="4056507"/>
            <a:ext cx="4622292" cy="797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292524"/>
                </a:solidFill>
                <a:latin typeface="Calibri (MS)"/>
                <a:ea typeface="Calibri (MS)"/>
                <a:cs typeface="Calibri (MS)"/>
                <a:sym typeface="Calibri (MS)"/>
              </a:rPr>
              <a:t>Which products carry the deepest discounts, and which have none at all?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1932920" y="2331720"/>
            <a:ext cx="5308092" cy="2948940"/>
            <a:chOff x="0" y="0"/>
            <a:chExt cx="7077456" cy="39319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77456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774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31152" y="0"/>
                  </a:lnTo>
                  <a:cubicBezTo>
                    <a:pt x="7011924" y="0"/>
                    <a:pt x="7077456" y="65532"/>
                    <a:pt x="7077456" y="146304"/>
                  </a:cubicBezTo>
                  <a:lnTo>
                    <a:pt x="7077456" y="3785616"/>
                  </a:lnTo>
                  <a:cubicBezTo>
                    <a:pt x="7077456" y="3866388"/>
                    <a:pt x="7011924" y="3931920"/>
                    <a:pt x="6931152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F5F3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275820" y="2674620"/>
            <a:ext cx="685800" cy="685800"/>
            <a:chOff x="0" y="0"/>
            <a:chExt cx="91440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275820" y="2674620"/>
            <a:ext cx="685800" cy="685800"/>
            <a:chOff x="0" y="0"/>
            <a:chExt cx="91440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275820" y="3566160"/>
            <a:ext cx="4622292" cy="605098"/>
            <a:chOff x="0" y="0"/>
            <a:chExt cx="6163056" cy="80679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163056" cy="806797"/>
            </a:xfrm>
            <a:custGeom>
              <a:avLst/>
              <a:gdLst/>
              <a:ahLst/>
              <a:cxnLst/>
              <a:rect r="r" b="b" t="t" l="l"/>
              <a:pathLst>
                <a:path h="806797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3509" r="0" b="-9417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6163056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Stock Status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2275820" y="4056507"/>
            <a:ext cx="4622292" cy="797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292524"/>
                </a:solidFill>
                <a:latin typeface="Calibri (MS)"/>
                <a:ea typeface="Calibri (MS)"/>
                <a:cs typeface="Calibri (MS)"/>
                <a:sym typeface="Calibri (MS)"/>
              </a:rPr>
              <a:t>How many products are currently in stock versus out of stock?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22960" y="5554980"/>
            <a:ext cx="5308092" cy="2948940"/>
            <a:chOff x="0" y="0"/>
            <a:chExt cx="7077456" cy="39319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077456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774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31152" y="0"/>
                  </a:lnTo>
                  <a:cubicBezTo>
                    <a:pt x="7011924" y="0"/>
                    <a:pt x="7077456" y="65532"/>
                    <a:pt x="7077456" y="146304"/>
                  </a:cubicBezTo>
                  <a:lnTo>
                    <a:pt x="7077456" y="3785616"/>
                  </a:lnTo>
                  <a:cubicBezTo>
                    <a:pt x="7077456" y="3866388"/>
                    <a:pt x="7011924" y="3931920"/>
                    <a:pt x="6931152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F5F3F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65860" y="5897880"/>
            <a:ext cx="685800" cy="685800"/>
            <a:chOff x="0" y="0"/>
            <a:chExt cx="91440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65860" y="5897880"/>
            <a:ext cx="685800" cy="685800"/>
            <a:chOff x="0" y="0"/>
            <a:chExt cx="914400" cy="914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65860" y="6789420"/>
            <a:ext cx="4622292" cy="605098"/>
            <a:chOff x="0" y="0"/>
            <a:chExt cx="6163056" cy="80679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163056" cy="806797"/>
            </a:xfrm>
            <a:custGeom>
              <a:avLst/>
              <a:gdLst/>
              <a:ahLst/>
              <a:cxnLst/>
              <a:rect r="r" b="b" t="t" l="l"/>
              <a:pathLst>
                <a:path h="806797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3509" r="0" b="-9417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66675"/>
              <a:ext cx="6163056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 Revenue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165860" y="7279767"/>
            <a:ext cx="4622292" cy="797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292524"/>
                </a:solidFill>
                <a:latin typeface="Calibri (MS)"/>
                <a:ea typeface="Calibri (MS)"/>
                <a:cs typeface="Calibri (MS)"/>
                <a:sym typeface="Calibri (MS)"/>
              </a:rPr>
              <a:t>What is the estimated revenue generated by each category?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6377940" y="5554980"/>
            <a:ext cx="5308092" cy="2948940"/>
            <a:chOff x="0" y="0"/>
            <a:chExt cx="7077456" cy="39319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077456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774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31152" y="0"/>
                  </a:lnTo>
                  <a:cubicBezTo>
                    <a:pt x="7011924" y="0"/>
                    <a:pt x="7077456" y="65532"/>
                    <a:pt x="7077456" y="146304"/>
                  </a:cubicBezTo>
                  <a:lnTo>
                    <a:pt x="7077456" y="3785616"/>
                  </a:lnTo>
                  <a:cubicBezTo>
                    <a:pt x="7077456" y="3866388"/>
                    <a:pt x="7011924" y="3931920"/>
                    <a:pt x="6931152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F5F3F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6720840" y="5897880"/>
            <a:ext cx="685800" cy="685800"/>
            <a:chOff x="0" y="0"/>
            <a:chExt cx="914400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720840" y="5897880"/>
            <a:ext cx="685800" cy="685800"/>
            <a:chOff x="0" y="0"/>
            <a:chExt cx="914400" cy="914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720840" y="6789420"/>
            <a:ext cx="4622292" cy="605098"/>
            <a:chOff x="0" y="0"/>
            <a:chExt cx="6163056" cy="80679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163056" cy="806797"/>
            </a:xfrm>
            <a:custGeom>
              <a:avLst/>
              <a:gdLst/>
              <a:ahLst/>
              <a:cxnLst/>
              <a:rect r="r" b="b" t="t" l="l"/>
              <a:pathLst>
                <a:path h="806797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3509" r="0" b="-9417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66675"/>
              <a:ext cx="6163056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 Size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6720840" y="7279767"/>
            <a:ext cx="4622292" cy="797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292524"/>
                </a:solidFill>
                <a:latin typeface="Calibri (MS)"/>
                <a:ea typeface="Calibri (MS)"/>
                <a:cs typeface="Calibri (MS)"/>
                <a:sym typeface="Calibri (MS)"/>
              </a:rPr>
              <a:t>Which category holds the largest share of the product catalog?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1932920" y="5554980"/>
            <a:ext cx="5308092" cy="2948940"/>
            <a:chOff x="0" y="0"/>
            <a:chExt cx="7077456" cy="39319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077456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774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31152" y="0"/>
                  </a:lnTo>
                  <a:cubicBezTo>
                    <a:pt x="7011924" y="0"/>
                    <a:pt x="7077456" y="65532"/>
                    <a:pt x="7077456" y="146304"/>
                  </a:cubicBezTo>
                  <a:lnTo>
                    <a:pt x="7077456" y="3785616"/>
                  </a:lnTo>
                  <a:cubicBezTo>
                    <a:pt x="7077456" y="3866388"/>
                    <a:pt x="7011924" y="3931920"/>
                    <a:pt x="6931152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F5F3FF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2275820" y="5897880"/>
            <a:ext cx="685800" cy="685800"/>
            <a:chOff x="0" y="0"/>
            <a:chExt cx="914400" cy="9144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275820" y="5897880"/>
            <a:ext cx="685800" cy="685800"/>
            <a:chOff x="0" y="0"/>
            <a:chExt cx="914400" cy="9144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275820" y="6789420"/>
            <a:ext cx="4622292" cy="605098"/>
            <a:chOff x="0" y="0"/>
            <a:chExt cx="6163056" cy="80679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163056" cy="806797"/>
            </a:xfrm>
            <a:custGeom>
              <a:avLst/>
              <a:gdLst/>
              <a:ahLst/>
              <a:cxnLst/>
              <a:rect r="r" b="b" t="t" l="l"/>
              <a:pathLst>
                <a:path h="806797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3509" r="0" b="-9417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66675"/>
              <a:ext cx="6163056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 Availability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2275820" y="7279767"/>
            <a:ext cx="4622292" cy="797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292524"/>
                </a:solidFill>
                <a:latin typeface="Calibri (MS)"/>
                <a:ea typeface="Calibri (MS)"/>
                <a:cs typeface="Calibri (MS)"/>
                <a:sym typeface="Calibri (MS)"/>
              </a:rPr>
              <a:t>Which product has the highest available quantity within each category?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822960" y="9806940"/>
            <a:ext cx="8229600" cy="411480"/>
            <a:chOff x="0" y="0"/>
            <a:chExt cx="10972800" cy="5486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Zepto SQL Analysis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7007840" y="9806940"/>
            <a:ext cx="548640" cy="411480"/>
            <a:chOff x="0" y="0"/>
            <a:chExt cx="731520" cy="5486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42201" y="-108729"/>
            <a:ext cx="12863317" cy="10696482"/>
            <a:chOff x="0" y="0"/>
            <a:chExt cx="17151090" cy="142619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81499"/>
              <a:ext cx="2960953" cy="1480476"/>
            </a:xfrm>
            <a:custGeom>
              <a:avLst/>
              <a:gdLst/>
              <a:ahLst/>
              <a:cxnLst/>
              <a:rect r="r" b="b" t="t" l="l"/>
              <a:pathLst>
                <a:path h="1480476" w="2960953">
                  <a:moveTo>
                    <a:pt x="0" y="0"/>
                  </a:moveTo>
                  <a:lnTo>
                    <a:pt x="2960953" y="0"/>
                  </a:lnTo>
                  <a:lnTo>
                    <a:pt x="2960953" y="1480477"/>
                  </a:lnTo>
                  <a:lnTo>
                    <a:pt x="0" y="1480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5219055" y="1683021"/>
              <a:ext cx="2576046" cy="1288023"/>
            </a:xfrm>
            <a:custGeom>
              <a:avLst/>
              <a:gdLst/>
              <a:ahLst/>
              <a:cxnLst/>
              <a:rect r="r" b="b" t="t" l="l"/>
              <a:pathLst>
                <a:path h="1288023" w="2576046">
                  <a:moveTo>
                    <a:pt x="0" y="0"/>
                  </a:moveTo>
                  <a:lnTo>
                    <a:pt x="2576046" y="0"/>
                  </a:lnTo>
                  <a:lnTo>
                    <a:pt x="2576046" y="1288023"/>
                  </a:lnTo>
                  <a:lnTo>
                    <a:pt x="0" y="1288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10800000">
              <a:off x="3744724" y="0"/>
              <a:ext cx="2510795" cy="1255397"/>
            </a:xfrm>
            <a:custGeom>
              <a:avLst/>
              <a:gdLst/>
              <a:ahLst/>
              <a:cxnLst/>
              <a:rect r="r" b="b" t="t" l="l"/>
              <a:pathLst>
                <a:path h="1255397" w="2510795">
                  <a:moveTo>
                    <a:pt x="0" y="0"/>
                  </a:moveTo>
                  <a:lnTo>
                    <a:pt x="2510795" y="0"/>
                  </a:lnTo>
                  <a:lnTo>
                    <a:pt x="2510795" y="1255397"/>
                  </a:lnTo>
                  <a:lnTo>
                    <a:pt x="0" y="1255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617220"/>
            <a:ext cx="15773400" cy="960120"/>
            <a:chOff x="0" y="0"/>
            <a:chExt cx="21031200" cy="1280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0312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4C1D9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Extended Business Insights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1508760"/>
            <a:ext cx="15773400" cy="548640"/>
            <a:chOff x="0" y="0"/>
            <a:chExt cx="21031200" cy="7315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03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10194" r="0" b="-51019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2103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B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Deeper questions added beyond the base analysis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22960" y="2331720"/>
            <a:ext cx="5308092" cy="2948940"/>
            <a:chOff x="0" y="0"/>
            <a:chExt cx="7077456" cy="393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77456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774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31152" y="0"/>
                  </a:lnTo>
                  <a:cubicBezTo>
                    <a:pt x="7011924" y="0"/>
                    <a:pt x="7077456" y="65532"/>
                    <a:pt x="7077456" y="146304"/>
                  </a:cubicBezTo>
                  <a:lnTo>
                    <a:pt x="7077456" y="3785616"/>
                  </a:lnTo>
                  <a:cubicBezTo>
                    <a:pt x="7077456" y="3866388"/>
                    <a:pt x="7011924" y="3931920"/>
                    <a:pt x="6931152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EDE9F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165860" y="2674620"/>
            <a:ext cx="685800" cy="685800"/>
            <a:chOff x="0" y="0"/>
            <a:chExt cx="914400" cy="914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4CC16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165860" y="2674620"/>
            <a:ext cx="685800" cy="685800"/>
            <a:chOff x="0" y="0"/>
            <a:chExt cx="91440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%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65860" y="3566160"/>
            <a:ext cx="4622292" cy="605098"/>
            <a:chOff x="0" y="0"/>
            <a:chExt cx="6163056" cy="80679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163056" cy="806797"/>
            </a:xfrm>
            <a:custGeom>
              <a:avLst/>
              <a:gdLst/>
              <a:ahLst/>
              <a:cxnLst/>
              <a:rect r="r" b="b" t="t" l="l"/>
              <a:pathLst>
                <a:path h="806797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3509" r="0" b="-9417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6163056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Revenue Share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165860" y="4056507"/>
            <a:ext cx="4622292" cy="797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292524"/>
                </a:solidFill>
                <a:latin typeface="Calibri (MS)"/>
                <a:ea typeface="Calibri (MS)"/>
                <a:cs typeface="Calibri (MS)"/>
                <a:sym typeface="Calibri (MS)"/>
              </a:rPr>
              <a:t>What percentage of total revenue does each category actually contribute?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377940" y="2331720"/>
            <a:ext cx="5308092" cy="2948940"/>
            <a:chOff x="0" y="0"/>
            <a:chExt cx="7077456" cy="39319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77456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774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31152" y="0"/>
                  </a:lnTo>
                  <a:cubicBezTo>
                    <a:pt x="7011924" y="0"/>
                    <a:pt x="7077456" y="65532"/>
                    <a:pt x="7077456" y="146304"/>
                  </a:cubicBezTo>
                  <a:lnTo>
                    <a:pt x="7077456" y="3785616"/>
                  </a:lnTo>
                  <a:cubicBezTo>
                    <a:pt x="7077456" y="3866388"/>
                    <a:pt x="7011924" y="3931920"/>
                    <a:pt x="6931152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EDE9F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720840" y="2674620"/>
            <a:ext cx="685800" cy="685800"/>
            <a:chOff x="0" y="0"/>
            <a:chExt cx="91440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4CC16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720840" y="2674620"/>
            <a:ext cx="685800" cy="685800"/>
            <a:chOff x="0" y="0"/>
            <a:chExt cx="914400" cy="914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720840" y="3566160"/>
            <a:ext cx="4622292" cy="605098"/>
            <a:chOff x="0" y="0"/>
            <a:chExt cx="6163056" cy="80679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163056" cy="806797"/>
            </a:xfrm>
            <a:custGeom>
              <a:avLst/>
              <a:gdLst/>
              <a:ahLst/>
              <a:cxnLst/>
              <a:rect r="r" b="b" t="t" l="l"/>
              <a:pathLst>
                <a:path h="806797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3509" r="0" b="-9417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6163056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Stock Health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6720840" y="4056507"/>
            <a:ext cx="4622292" cy="797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292524"/>
                </a:solidFill>
                <a:latin typeface="Calibri (MS)"/>
                <a:ea typeface="Calibri (MS)"/>
                <a:cs typeface="Calibri (MS)"/>
                <a:sym typeface="Calibri (MS)"/>
              </a:rPr>
              <a:t>Which categories suffer the highest out-of-stock rate, signalling supply issues?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1932920" y="2331720"/>
            <a:ext cx="5308092" cy="2948940"/>
            <a:chOff x="0" y="0"/>
            <a:chExt cx="7077456" cy="39319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077456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774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31152" y="0"/>
                  </a:lnTo>
                  <a:cubicBezTo>
                    <a:pt x="7011924" y="0"/>
                    <a:pt x="7077456" y="65532"/>
                    <a:pt x="7077456" y="146304"/>
                  </a:cubicBezTo>
                  <a:lnTo>
                    <a:pt x="7077456" y="3785616"/>
                  </a:lnTo>
                  <a:cubicBezTo>
                    <a:pt x="7077456" y="3866388"/>
                    <a:pt x="7011924" y="3931920"/>
                    <a:pt x="6931152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EDE9FE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275820" y="2674620"/>
            <a:ext cx="685800" cy="685800"/>
            <a:chOff x="0" y="0"/>
            <a:chExt cx="91440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4CC1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275820" y="2674620"/>
            <a:ext cx="685800" cy="685800"/>
            <a:chOff x="0" y="0"/>
            <a:chExt cx="91440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275820" y="3566160"/>
            <a:ext cx="4622292" cy="605098"/>
            <a:chOff x="0" y="0"/>
            <a:chExt cx="6163056" cy="80679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163056" cy="806797"/>
            </a:xfrm>
            <a:custGeom>
              <a:avLst/>
              <a:gdLst/>
              <a:ahLst/>
              <a:cxnLst/>
              <a:rect r="r" b="b" t="t" l="l"/>
              <a:pathLst>
                <a:path h="806797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3509" r="0" b="-9417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6163056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Wasted Promotions</a:t>
              </a:r>
            </a:p>
          </p:txBody>
        </p:sp>
      </p:grpSp>
      <p:sp>
        <p:nvSpPr>
          <p:cNvPr name="TextBox 44" id="44"/>
          <p:cNvSpPr txBox="true"/>
          <p:nvPr/>
        </p:nvSpPr>
        <p:spPr>
          <a:xfrm rot="0">
            <a:off x="12275820" y="4056507"/>
            <a:ext cx="4622292" cy="1178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292524"/>
                </a:solidFill>
                <a:latin typeface="Calibri (MS)"/>
                <a:ea typeface="Calibri (MS)"/>
                <a:cs typeface="Calibri (MS)"/>
                <a:sym typeface="Calibri (MS)"/>
              </a:rPr>
              <a:t>Which heavily discounted products are still out of stock — lost sales despite the offer?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22960" y="5554980"/>
            <a:ext cx="5308092" cy="2948940"/>
            <a:chOff x="0" y="0"/>
            <a:chExt cx="7077456" cy="39319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077456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774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31152" y="0"/>
                  </a:lnTo>
                  <a:cubicBezTo>
                    <a:pt x="7011924" y="0"/>
                    <a:pt x="7077456" y="65532"/>
                    <a:pt x="7077456" y="146304"/>
                  </a:cubicBezTo>
                  <a:lnTo>
                    <a:pt x="7077456" y="3785616"/>
                  </a:lnTo>
                  <a:cubicBezTo>
                    <a:pt x="7077456" y="3866388"/>
                    <a:pt x="7011924" y="3931920"/>
                    <a:pt x="6931152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EDE9FE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65860" y="5897880"/>
            <a:ext cx="685800" cy="685800"/>
            <a:chOff x="0" y="0"/>
            <a:chExt cx="91440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4CC16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65860" y="5897880"/>
            <a:ext cx="685800" cy="685800"/>
            <a:chOff x="0" y="0"/>
            <a:chExt cx="914400" cy="914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★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65860" y="6789420"/>
            <a:ext cx="4622292" cy="605098"/>
            <a:chOff x="0" y="0"/>
            <a:chExt cx="6163056" cy="80679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163056" cy="806797"/>
            </a:xfrm>
            <a:custGeom>
              <a:avLst/>
              <a:gdLst/>
              <a:ahLst/>
              <a:cxnLst/>
              <a:rect r="r" b="b" t="t" l="l"/>
              <a:pathLst>
                <a:path h="806797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3509" r="0" b="-9417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66675"/>
              <a:ext cx="6163056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Best Value Picks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165860" y="7279767"/>
            <a:ext cx="4622292" cy="797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292524"/>
                </a:solidFill>
                <a:latin typeface="Calibri (MS)"/>
                <a:ea typeface="Calibri (MS)"/>
                <a:cs typeface="Calibri (MS)"/>
                <a:sym typeface="Calibri (MS)"/>
              </a:rPr>
              <a:t>Which products offer the lowest price-per-gram, ideal for a “best value” shelf?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6377940" y="5554980"/>
            <a:ext cx="5308092" cy="2948940"/>
            <a:chOff x="0" y="0"/>
            <a:chExt cx="7077456" cy="39319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077456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774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31152" y="0"/>
                  </a:lnTo>
                  <a:cubicBezTo>
                    <a:pt x="7011924" y="0"/>
                    <a:pt x="7077456" y="65532"/>
                    <a:pt x="7077456" y="146304"/>
                  </a:cubicBezTo>
                  <a:lnTo>
                    <a:pt x="7077456" y="3785616"/>
                  </a:lnTo>
                  <a:cubicBezTo>
                    <a:pt x="7077456" y="3866388"/>
                    <a:pt x="7011924" y="3931920"/>
                    <a:pt x="6931152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EDE9FE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6720840" y="5897880"/>
            <a:ext cx="685800" cy="685800"/>
            <a:chOff x="0" y="0"/>
            <a:chExt cx="914400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4CC16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6720840" y="5897880"/>
            <a:ext cx="685800" cy="685800"/>
            <a:chOff x="0" y="0"/>
            <a:chExt cx="914400" cy="914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720840" y="6789420"/>
            <a:ext cx="4622292" cy="605098"/>
            <a:chOff x="0" y="0"/>
            <a:chExt cx="6163056" cy="806797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163056" cy="806797"/>
            </a:xfrm>
            <a:custGeom>
              <a:avLst/>
              <a:gdLst/>
              <a:ahLst/>
              <a:cxnLst/>
              <a:rect r="r" b="b" t="t" l="l"/>
              <a:pathLst>
                <a:path h="806797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3509" r="0" b="-94179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66675"/>
              <a:ext cx="6163056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Restock Priority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6720840" y="7279767"/>
            <a:ext cx="4622292" cy="797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292524"/>
                </a:solidFill>
                <a:latin typeface="Calibri (MS)"/>
                <a:ea typeface="Calibri (MS)"/>
                <a:cs typeface="Calibri (MS)"/>
                <a:sym typeface="Calibri (MS)"/>
              </a:rPr>
              <a:t>Which products have only 1–5 units left and need urgent restocking?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1932920" y="5554980"/>
            <a:ext cx="5308092" cy="2948940"/>
            <a:chOff x="0" y="0"/>
            <a:chExt cx="7077456" cy="39319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7077456" cy="3931920"/>
            </a:xfrm>
            <a:custGeom>
              <a:avLst/>
              <a:gdLst/>
              <a:ahLst/>
              <a:cxnLst/>
              <a:rect r="r" b="b" t="t" l="l"/>
              <a:pathLst>
                <a:path h="3931920" w="7077456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931152" y="0"/>
                  </a:lnTo>
                  <a:cubicBezTo>
                    <a:pt x="7011924" y="0"/>
                    <a:pt x="7077456" y="65532"/>
                    <a:pt x="7077456" y="146304"/>
                  </a:cubicBezTo>
                  <a:lnTo>
                    <a:pt x="7077456" y="3785616"/>
                  </a:lnTo>
                  <a:cubicBezTo>
                    <a:pt x="7077456" y="3866388"/>
                    <a:pt x="7011924" y="3931920"/>
                    <a:pt x="6931152" y="3931920"/>
                  </a:cubicBezTo>
                  <a:lnTo>
                    <a:pt x="146304" y="3931920"/>
                  </a:lnTo>
                  <a:cubicBezTo>
                    <a:pt x="65532" y="3931920"/>
                    <a:pt x="0" y="3866388"/>
                    <a:pt x="0" y="3785616"/>
                  </a:cubicBezTo>
                  <a:close/>
                </a:path>
              </a:pathLst>
            </a:custGeom>
            <a:solidFill>
              <a:srgbClr val="EDE9FE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2275820" y="5897880"/>
            <a:ext cx="685800" cy="685800"/>
            <a:chOff x="0" y="0"/>
            <a:chExt cx="914400" cy="9144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84CC16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2275820" y="5897880"/>
            <a:ext cx="685800" cy="685800"/>
            <a:chOff x="0" y="0"/>
            <a:chExt cx="914400" cy="9144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⇆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275820" y="6789420"/>
            <a:ext cx="4622292" cy="605098"/>
            <a:chOff x="0" y="0"/>
            <a:chExt cx="6163056" cy="80679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163056" cy="806797"/>
            </a:xfrm>
            <a:custGeom>
              <a:avLst/>
              <a:gdLst/>
              <a:ahLst/>
              <a:cxnLst/>
              <a:rect r="r" b="b" t="t" l="l"/>
              <a:pathLst>
                <a:path h="806797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806797"/>
                  </a:lnTo>
                  <a:lnTo>
                    <a:pt x="0" y="80679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03509" r="0" b="-9417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66675"/>
              <a:ext cx="6163056" cy="8734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Discount vs Stock-Out</a:t>
              </a:r>
            </a:p>
          </p:txBody>
        </p:sp>
      </p:grpSp>
      <p:sp>
        <p:nvSpPr>
          <p:cNvPr name="TextBox 77" id="77"/>
          <p:cNvSpPr txBox="true"/>
          <p:nvPr/>
        </p:nvSpPr>
        <p:spPr>
          <a:xfrm rot="0">
            <a:off x="12275820" y="7279767"/>
            <a:ext cx="4622292" cy="797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5"/>
              </a:lnSpc>
            </a:pPr>
            <a:r>
              <a:rPr lang="en-US" sz="2199">
                <a:solidFill>
                  <a:srgbClr val="292524"/>
                </a:solidFill>
                <a:latin typeface="Calibri (MS)"/>
                <a:ea typeface="Calibri (MS)"/>
                <a:cs typeface="Calibri (MS)"/>
                <a:sym typeface="Calibri (MS)"/>
              </a:rPr>
              <a:t>Does heavier discounting actually correlate with faster stock depletion?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822960" y="9806940"/>
            <a:ext cx="8229600" cy="411480"/>
            <a:chOff x="0" y="0"/>
            <a:chExt cx="10972800" cy="5486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Zepto SQL Analysis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7007840" y="9806940"/>
            <a:ext cx="548640" cy="411480"/>
            <a:chOff x="0" y="0"/>
            <a:chExt cx="731520" cy="5486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42201" y="-108729"/>
            <a:ext cx="12863317" cy="10696482"/>
            <a:chOff x="0" y="0"/>
            <a:chExt cx="17151090" cy="142619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781499"/>
              <a:ext cx="2960953" cy="1480476"/>
            </a:xfrm>
            <a:custGeom>
              <a:avLst/>
              <a:gdLst/>
              <a:ahLst/>
              <a:cxnLst/>
              <a:rect r="r" b="b" t="t" l="l"/>
              <a:pathLst>
                <a:path h="1480476" w="2960953">
                  <a:moveTo>
                    <a:pt x="0" y="0"/>
                  </a:moveTo>
                  <a:lnTo>
                    <a:pt x="2960953" y="0"/>
                  </a:lnTo>
                  <a:lnTo>
                    <a:pt x="2960953" y="1480477"/>
                  </a:lnTo>
                  <a:lnTo>
                    <a:pt x="0" y="14804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5219055" y="1683021"/>
              <a:ext cx="2576046" cy="1288023"/>
            </a:xfrm>
            <a:custGeom>
              <a:avLst/>
              <a:gdLst/>
              <a:ahLst/>
              <a:cxnLst/>
              <a:rect r="r" b="b" t="t" l="l"/>
              <a:pathLst>
                <a:path h="1288023" w="2576046">
                  <a:moveTo>
                    <a:pt x="0" y="0"/>
                  </a:moveTo>
                  <a:lnTo>
                    <a:pt x="2576046" y="0"/>
                  </a:lnTo>
                  <a:lnTo>
                    <a:pt x="2576046" y="1288023"/>
                  </a:lnTo>
                  <a:lnTo>
                    <a:pt x="0" y="1288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0"/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10800000">
              <a:off x="3744724" y="0"/>
              <a:ext cx="2510795" cy="1255397"/>
            </a:xfrm>
            <a:custGeom>
              <a:avLst/>
              <a:gdLst/>
              <a:ahLst/>
              <a:cxnLst/>
              <a:rect r="r" b="b" t="t" l="l"/>
              <a:pathLst>
                <a:path h="1255397" w="2510795">
                  <a:moveTo>
                    <a:pt x="0" y="0"/>
                  </a:moveTo>
                  <a:lnTo>
                    <a:pt x="2510795" y="0"/>
                  </a:lnTo>
                  <a:lnTo>
                    <a:pt x="2510795" y="1255397"/>
                  </a:lnTo>
                  <a:lnTo>
                    <a:pt x="0" y="1255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91540" y="1028700"/>
            <a:ext cx="15773400" cy="960120"/>
            <a:chOff x="0" y="0"/>
            <a:chExt cx="21031200" cy="12801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03120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70111" r="0" b="-27011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03120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4C1D9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Tech Stack &amp; SQL Techniques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2960" y="2606040"/>
            <a:ext cx="3977640" cy="5549416"/>
            <a:chOff x="0" y="0"/>
            <a:chExt cx="5303520" cy="73992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03520" cy="7399221"/>
            </a:xfrm>
            <a:custGeom>
              <a:avLst/>
              <a:gdLst/>
              <a:ahLst/>
              <a:cxnLst/>
              <a:rect r="r" b="b" t="t" l="l"/>
              <a:pathLst>
                <a:path h="7399221" w="5303520">
                  <a:moveTo>
                    <a:pt x="0" y="174099"/>
                  </a:moveTo>
                  <a:cubicBezTo>
                    <a:pt x="0" y="7798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77982"/>
                    <a:pt x="5303520" y="174099"/>
                  </a:cubicBezTo>
                  <a:lnTo>
                    <a:pt x="5303520" y="7225122"/>
                  </a:lnTo>
                  <a:cubicBezTo>
                    <a:pt x="5303520" y="7321239"/>
                    <a:pt x="5237988" y="7399221"/>
                    <a:pt x="5157216" y="7399221"/>
                  </a:cubicBezTo>
                  <a:lnTo>
                    <a:pt x="146304" y="7399221"/>
                  </a:lnTo>
                  <a:cubicBezTo>
                    <a:pt x="65532" y="7399221"/>
                    <a:pt x="0" y="7321239"/>
                    <a:pt x="0" y="7225122"/>
                  </a:cubicBezTo>
                  <a:close/>
                </a:path>
              </a:pathLst>
            </a:custGeom>
            <a:solidFill>
              <a:srgbClr val="F5F3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228850" y="3086100"/>
            <a:ext cx="1165860" cy="1165860"/>
            <a:chOff x="0" y="0"/>
            <a:chExt cx="1554480" cy="1554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228850" y="3086100"/>
            <a:ext cx="1165860" cy="1165860"/>
            <a:chOff x="0" y="0"/>
            <a:chExt cx="1554480" cy="1554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55448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DB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97280" y="4594860"/>
            <a:ext cx="3429000" cy="685800"/>
            <a:chOff x="0" y="0"/>
            <a:chExt cx="4572000" cy="914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57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45720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PostgreSQL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65860" y="5280660"/>
            <a:ext cx="3291840" cy="1783080"/>
            <a:chOff x="0" y="0"/>
            <a:chExt cx="4389120" cy="2377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3891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9497" t="0" r="-19497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0"/>
              <a:ext cx="4389120" cy="2472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100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Relational database engine</a:t>
              </a:r>
            </a:p>
            <a:p>
              <a:pPr algn="ctr">
                <a:lnSpc>
                  <a:spcPts val="3024"/>
                </a:lnSpc>
              </a:pPr>
              <a:r>
                <a:rPr lang="en-US" sz="2100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hosting all 16 tables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074920" y="2606040"/>
            <a:ext cx="3977640" cy="5549416"/>
            <a:chOff x="0" y="0"/>
            <a:chExt cx="5303520" cy="739922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03520" cy="7399221"/>
            </a:xfrm>
            <a:custGeom>
              <a:avLst/>
              <a:gdLst/>
              <a:ahLst/>
              <a:cxnLst/>
              <a:rect r="r" b="b" t="t" l="l"/>
              <a:pathLst>
                <a:path h="7399221" w="5303520">
                  <a:moveTo>
                    <a:pt x="0" y="174099"/>
                  </a:moveTo>
                  <a:cubicBezTo>
                    <a:pt x="0" y="7798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77982"/>
                    <a:pt x="5303520" y="174099"/>
                  </a:cubicBezTo>
                  <a:lnTo>
                    <a:pt x="5303520" y="7225122"/>
                  </a:lnTo>
                  <a:cubicBezTo>
                    <a:pt x="5303520" y="7321239"/>
                    <a:pt x="5237988" y="7399221"/>
                    <a:pt x="5157216" y="7399221"/>
                  </a:cubicBezTo>
                  <a:lnTo>
                    <a:pt x="146304" y="7399221"/>
                  </a:lnTo>
                  <a:cubicBezTo>
                    <a:pt x="65532" y="7399221"/>
                    <a:pt x="0" y="7321239"/>
                    <a:pt x="0" y="7225122"/>
                  </a:cubicBezTo>
                  <a:close/>
                </a:path>
              </a:pathLst>
            </a:custGeom>
            <a:solidFill>
              <a:srgbClr val="F5F3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480810" y="3086100"/>
            <a:ext cx="1165860" cy="1165860"/>
            <a:chOff x="0" y="0"/>
            <a:chExt cx="1554480" cy="15544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480810" y="3086100"/>
            <a:ext cx="1165860" cy="1165860"/>
            <a:chOff x="0" y="0"/>
            <a:chExt cx="1554480" cy="1554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55448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UI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349240" y="4594860"/>
            <a:ext cx="3429000" cy="685800"/>
            <a:chOff x="0" y="0"/>
            <a:chExt cx="45720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57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45720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pgAdmin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417820" y="5280660"/>
            <a:ext cx="3291840" cy="1783080"/>
            <a:chOff x="0" y="0"/>
            <a:chExt cx="4389120" cy="2377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3891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9497" t="0" r="-19497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0"/>
              <a:ext cx="4389120" cy="2472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100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CSV import/export</a:t>
              </a:r>
            </a:p>
            <a:p>
              <a:pPr algn="ctr">
                <a:lnSpc>
                  <a:spcPts val="3024"/>
                </a:lnSpc>
              </a:pPr>
              <a:r>
                <a:rPr lang="en-US" sz="2100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and query execution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26880" y="2606040"/>
            <a:ext cx="3977640" cy="5549416"/>
            <a:chOff x="0" y="0"/>
            <a:chExt cx="5303520" cy="739922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03520" cy="7399221"/>
            </a:xfrm>
            <a:custGeom>
              <a:avLst/>
              <a:gdLst/>
              <a:ahLst/>
              <a:cxnLst/>
              <a:rect r="r" b="b" t="t" l="l"/>
              <a:pathLst>
                <a:path h="7399221" w="5303520">
                  <a:moveTo>
                    <a:pt x="0" y="174099"/>
                  </a:moveTo>
                  <a:cubicBezTo>
                    <a:pt x="0" y="7798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77982"/>
                    <a:pt x="5303520" y="174099"/>
                  </a:cubicBezTo>
                  <a:lnTo>
                    <a:pt x="5303520" y="7225122"/>
                  </a:lnTo>
                  <a:cubicBezTo>
                    <a:pt x="5303520" y="7321239"/>
                    <a:pt x="5237988" y="7399221"/>
                    <a:pt x="5157216" y="7399221"/>
                  </a:cubicBezTo>
                  <a:lnTo>
                    <a:pt x="146304" y="7399221"/>
                  </a:lnTo>
                  <a:cubicBezTo>
                    <a:pt x="65532" y="7399221"/>
                    <a:pt x="0" y="7321239"/>
                    <a:pt x="0" y="7225122"/>
                  </a:cubicBezTo>
                  <a:close/>
                </a:path>
              </a:pathLst>
            </a:custGeom>
            <a:solidFill>
              <a:srgbClr val="F5F3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732770" y="3086100"/>
            <a:ext cx="1165860" cy="1165860"/>
            <a:chOff x="0" y="0"/>
            <a:chExt cx="1554480" cy="15544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732770" y="3086100"/>
            <a:ext cx="1165860" cy="1165860"/>
            <a:chOff x="0" y="0"/>
            <a:chExt cx="1554480" cy="15544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155448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JOIN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601200" y="4594860"/>
            <a:ext cx="3429000" cy="685800"/>
            <a:chOff x="0" y="0"/>
            <a:chExt cx="457200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57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45720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Joins &amp; Aggregates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669780" y="5280660"/>
            <a:ext cx="3291840" cy="1783080"/>
            <a:chOff x="0" y="0"/>
            <a:chExt cx="4389120" cy="23774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3891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9497" t="0" r="-19497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0"/>
              <a:ext cx="4389120" cy="2472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100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GROUP BY, SUM, AVG, </a:t>
              </a:r>
            </a:p>
            <a:p>
              <a:pPr algn="ctr">
                <a:lnSpc>
                  <a:spcPts val="3024"/>
                </a:lnSpc>
              </a:pPr>
              <a:r>
                <a:rPr lang="en-US" sz="2100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COUNT across categories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578840" y="2606040"/>
            <a:ext cx="3977640" cy="5549416"/>
            <a:chOff x="0" y="0"/>
            <a:chExt cx="5303520" cy="739922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303520" cy="7399221"/>
            </a:xfrm>
            <a:custGeom>
              <a:avLst/>
              <a:gdLst/>
              <a:ahLst/>
              <a:cxnLst/>
              <a:rect r="r" b="b" t="t" l="l"/>
              <a:pathLst>
                <a:path h="7399221" w="5303520">
                  <a:moveTo>
                    <a:pt x="0" y="174099"/>
                  </a:moveTo>
                  <a:cubicBezTo>
                    <a:pt x="0" y="77982"/>
                    <a:pt x="65532" y="0"/>
                    <a:pt x="146304" y="0"/>
                  </a:cubicBezTo>
                  <a:lnTo>
                    <a:pt x="5157216" y="0"/>
                  </a:lnTo>
                  <a:cubicBezTo>
                    <a:pt x="5237988" y="0"/>
                    <a:pt x="5303520" y="77982"/>
                    <a:pt x="5303520" y="174099"/>
                  </a:cubicBezTo>
                  <a:lnTo>
                    <a:pt x="5303520" y="7225122"/>
                  </a:lnTo>
                  <a:cubicBezTo>
                    <a:pt x="5303520" y="7321239"/>
                    <a:pt x="5237988" y="7399221"/>
                    <a:pt x="5157216" y="7399221"/>
                  </a:cubicBezTo>
                  <a:lnTo>
                    <a:pt x="146304" y="7399221"/>
                  </a:lnTo>
                  <a:cubicBezTo>
                    <a:pt x="65532" y="7399221"/>
                    <a:pt x="0" y="7321239"/>
                    <a:pt x="0" y="7225122"/>
                  </a:cubicBezTo>
                  <a:close/>
                </a:path>
              </a:pathLst>
            </a:custGeom>
            <a:solidFill>
              <a:srgbClr val="F5F3FF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4984730" y="3086100"/>
            <a:ext cx="1165860" cy="1165860"/>
            <a:chOff x="0" y="0"/>
            <a:chExt cx="1554480" cy="15544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4C1D95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4984730" y="3086100"/>
            <a:ext cx="1165860" cy="1165860"/>
            <a:chOff x="0" y="0"/>
            <a:chExt cx="1554480" cy="155448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1554480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CTE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853160" y="4594860"/>
            <a:ext cx="3429000" cy="685800"/>
            <a:chOff x="0" y="0"/>
            <a:chExt cx="4572000" cy="914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572000" cy="914400"/>
            </a:xfrm>
            <a:custGeom>
              <a:avLst/>
              <a:gdLst/>
              <a:ahLst/>
              <a:cxnLst/>
              <a:rect r="r" b="b" t="t" l="l"/>
              <a:pathLst>
                <a:path h="914400" w="4572000">
                  <a:moveTo>
                    <a:pt x="0" y="0"/>
                  </a:moveTo>
                  <a:lnTo>
                    <a:pt x="4572000" y="0"/>
                  </a:lnTo>
                  <a:lnTo>
                    <a:pt x="4572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66675"/>
              <a:ext cx="4572000" cy="981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35146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CTEs &amp; Window Fns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3967460" y="5507375"/>
            <a:ext cx="3291840" cy="1783080"/>
            <a:chOff x="0" y="0"/>
            <a:chExt cx="4389120" cy="23774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389120" cy="2377440"/>
            </a:xfrm>
            <a:custGeom>
              <a:avLst/>
              <a:gdLst/>
              <a:ahLst/>
              <a:cxnLst/>
              <a:rect r="r" b="b" t="t" l="l"/>
              <a:pathLst>
                <a:path h="2377440" w="4389120">
                  <a:moveTo>
                    <a:pt x="0" y="0"/>
                  </a:moveTo>
                  <a:lnTo>
                    <a:pt x="4389120" y="0"/>
                  </a:lnTo>
                  <a:lnTo>
                    <a:pt x="438912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19497" t="0" r="-19497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0"/>
              <a:ext cx="4389120" cy="2472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24"/>
                </a:lnSpc>
              </a:pPr>
              <a:r>
                <a:rPr lang="en-US" sz="2100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ROW_NUMBER() </a:t>
              </a:r>
            </a:p>
            <a:p>
              <a:pPr algn="ctr">
                <a:lnSpc>
                  <a:spcPts val="3024"/>
                </a:lnSpc>
              </a:pPr>
              <a:r>
                <a:rPr lang="en-US" sz="2100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OVER(PARTITION BY …) </a:t>
              </a:r>
            </a:p>
            <a:p>
              <a:pPr algn="ctr">
                <a:lnSpc>
                  <a:spcPts val="3024"/>
                </a:lnSpc>
              </a:pPr>
              <a:r>
                <a:rPr lang="en-US" sz="2100" b="true">
                  <a:solidFill>
                    <a:srgbClr val="2925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 per-category ranking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22960" y="9806940"/>
            <a:ext cx="8229600" cy="411480"/>
            <a:chOff x="0" y="0"/>
            <a:chExt cx="10972800" cy="5486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28575"/>
              <a:ext cx="109728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6B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Zepto SQL Analysis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7007840" y="9806940"/>
            <a:ext cx="548640" cy="411480"/>
            <a:chOff x="0" y="0"/>
            <a:chExt cx="73152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3152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46227" t="0" r="-46227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B647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C1D9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42201" y="5777"/>
            <a:ext cx="12863317" cy="10581976"/>
            <a:chOff x="0" y="0"/>
            <a:chExt cx="17151090" cy="141093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2628825"/>
              <a:ext cx="2960953" cy="1480476"/>
            </a:xfrm>
            <a:custGeom>
              <a:avLst/>
              <a:gdLst/>
              <a:ahLst/>
              <a:cxnLst/>
              <a:rect r="r" b="b" t="t" l="l"/>
              <a:pathLst>
                <a:path h="1480476" w="2960953">
                  <a:moveTo>
                    <a:pt x="0" y="0"/>
                  </a:moveTo>
                  <a:lnTo>
                    <a:pt x="2960953" y="0"/>
                  </a:lnTo>
                  <a:lnTo>
                    <a:pt x="2960953" y="1480476"/>
                  </a:lnTo>
                  <a:lnTo>
                    <a:pt x="0" y="14804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5219055" y="1530346"/>
              <a:ext cx="2576046" cy="1288023"/>
            </a:xfrm>
            <a:custGeom>
              <a:avLst/>
              <a:gdLst/>
              <a:ahLst/>
              <a:cxnLst/>
              <a:rect r="r" b="b" t="t" l="l"/>
              <a:pathLst>
                <a:path h="1288023" w="2576046">
                  <a:moveTo>
                    <a:pt x="0" y="0"/>
                  </a:moveTo>
                  <a:lnTo>
                    <a:pt x="2576046" y="0"/>
                  </a:lnTo>
                  <a:lnTo>
                    <a:pt x="2576046" y="1288023"/>
                  </a:lnTo>
                  <a:lnTo>
                    <a:pt x="0" y="12880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-10800000">
              <a:off x="2558563" y="0"/>
              <a:ext cx="2510795" cy="1255397"/>
            </a:xfrm>
            <a:custGeom>
              <a:avLst/>
              <a:gdLst/>
              <a:ahLst/>
              <a:cxnLst/>
              <a:rect r="r" b="b" t="t" l="l"/>
              <a:pathLst>
                <a:path h="1255397" w="2510795">
                  <a:moveTo>
                    <a:pt x="0" y="0"/>
                  </a:moveTo>
                  <a:lnTo>
                    <a:pt x="2510795" y="0"/>
                  </a:lnTo>
                  <a:lnTo>
                    <a:pt x="2510795" y="1255397"/>
                  </a:lnTo>
                  <a:lnTo>
                    <a:pt x="0" y="12553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1592788" y="339976"/>
            <a:ext cx="10736788" cy="9725741"/>
          </a:xfrm>
          <a:custGeom>
            <a:avLst/>
            <a:gdLst/>
            <a:ahLst/>
            <a:cxnLst/>
            <a:rect r="r" b="b" t="t" l="l"/>
            <a:pathLst>
              <a:path h="9725741" w="10736788">
                <a:moveTo>
                  <a:pt x="0" y="0"/>
                </a:moveTo>
                <a:lnTo>
                  <a:pt x="10736788" y="0"/>
                </a:lnTo>
                <a:lnTo>
                  <a:pt x="10736788" y="9725741"/>
                </a:lnTo>
                <a:lnTo>
                  <a:pt x="0" y="97257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021131" y="761977"/>
            <a:ext cx="5328663" cy="1476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24"/>
              </a:lnSpc>
            </a:pPr>
            <a:r>
              <a:rPr lang="en-US" sz="9533">
                <a:solidFill>
                  <a:srgbClr val="FFFFFF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Thank You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55795" y="3222583"/>
            <a:ext cx="8123459" cy="4982118"/>
            <a:chOff x="0" y="0"/>
            <a:chExt cx="10391446" cy="63730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91446" cy="6373075"/>
            </a:xfrm>
            <a:custGeom>
              <a:avLst/>
              <a:gdLst/>
              <a:ahLst/>
              <a:cxnLst/>
              <a:rect r="r" b="b" t="t" l="l"/>
              <a:pathLst>
                <a:path h="6373075" w="10391446">
                  <a:moveTo>
                    <a:pt x="0" y="0"/>
                  </a:moveTo>
                  <a:lnTo>
                    <a:pt x="10391446" y="0"/>
                  </a:lnTo>
                  <a:lnTo>
                    <a:pt x="10391446" y="6373075"/>
                  </a:lnTo>
                  <a:lnTo>
                    <a:pt x="0" y="637307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665" r="-84790" b="-1753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33350"/>
              <a:ext cx="10391446" cy="65064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70535" indent="-235268" lvl="1">
                <a:lnSpc>
                  <a:spcPts val="3900"/>
                </a:lnSpc>
                <a:buFont typeface="Arial"/>
                <a:buChar char="•"/>
              </a:pPr>
              <a:r>
                <a:rPr lang="en-US" b="true" sz="2600">
                  <a:solidFill>
                    <a:srgbClr val="EDE9F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15 raw category datasets consolidated into</a:t>
              </a:r>
            </a:p>
            <a:p>
              <a:pPr algn="l">
                <a:lnSpc>
                  <a:spcPts val="3900"/>
                </a:lnSpc>
              </a:pPr>
              <a:r>
                <a:rPr lang="en-US" sz="2600" b="true">
                  <a:solidFill>
                    <a:srgbClr val="EDE9F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    one clean, query-ready relational database</a:t>
              </a:r>
            </a:p>
            <a:p>
              <a:pPr algn="l" marL="470535" indent="-235268" lvl="1">
                <a:lnSpc>
                  <a:spcPts val="3900"/>
                </a:lnSpc>
                <a:buFont typeface="Arial"/>
                <a:buChar char="•"/>
              </a:pPr>
              <a:r>
                <a:rPr lang="en-US" b="true" sz="2600">
                  <a:solidFill>
                    <a:srgbClr val="EDE9F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validated and corrected — invalid rows </a:t>
              </a:r>
            </a:p>
            <a:p>
              <a:pPr algn="l">
                <a:lnSpc>
                  <a:spcPts val="3900"/>
                </a:lnSpc>
              </a:pPr>
              <a:r>
                <a:rPr lang="en-US" sz="2600" b="true">
                  <a:solidFill>
                    <a:srgbClr val="EDE9F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    removed, currency units fixed, integrity </a:t>
              </a:r>
            </a:p>
            <a:p>
              <a:pPr algn="l">
                <a:lnSpc>
                  <a:spcPts val="3900"/>
                </a:lnSpc>
              </a:pPr>
              <a:r>
                <a:rPr lang="en-US" sz="2600" b="true">
                  <a:solidFill>
                    <a:srgbClr val="EDE9F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    C</a:t>
              </a:r>
              <a:r>
                <a:rPr lang="en-US" sz="2600" b="true">
                  <a:solidFill>
                    <a:srgbClr val="EDE9F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hecked</a:t>
              </a:r>
            </a:p>
            <a:p>
              <a:pPr algn="l" marL="470535" indent="-235268" lvl="1">
                <a:lnSpc>
                  <a:spcPts val="3900"/>
                </a:lnSpc>
                <a:buFont typeface="Arial"/>
                <a:buChar char="•"/>
              </a:pPr>
              <a:r>
                <a:rPr lang="en-US" b="true" sz="2600">
                  <a:solidFill>
                    <a:srgbClr val="EDE9F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20+ SQL queries covering pricing, discounts,</a:t>
              </a:r>
            </a:p>
            <a:p>
              <a:pPr algn="l">
                <a:lnSpc>
                  <a:spcPts val="3900"/>
                </a:lnSpc>
              </a:pPr>
              <a:r>
                <a:rPr lang="en-US" sz="2600" b="true">
                  <a:solidFill>
                    <a:srgbClr val="EDE9F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   stock health, and category-level revenue</a:t>
              </a:r>
            </a:p>
            <a:p>
              <a:pPr algn="l" marL="470535" indent="-235268" lvl="1">
                <a:lnSpc>
                  <a:spcPts val="3900"/>
                </a:lnSpc>
                <a:buFont typeface="Arial"/>
                <a:buChar char="•"/>
              </a:pPr>
              <a:r>
                <a:rPr lang="en-US" b="true" sz="2600">
                  <a:solidFill>
                    <a:srgbClr val="EDE9F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Extended insights (revenue share, restock</a:t>
              </a:r>
            </a:p>
            <a:p>
              <a:pPr algn="l">
                <a:lnSpc>
                  <a:spcPts val="3900"/>
                </a:lnSpc>
              </a:pPr>
              <a:r>
                <a:rPr lang="en-US" sz="2600" b="true">
                  <a:solidFill>
                    <a:srgbClr val="EDE9F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   priority, discount correlation) go beyond </a:t>
              </a:r>
            </a:p>
            <a:p>
              <a:pPr algn="l">
                <a:lnSpc>
                  <a:spcPts val="3900"/>
                </a:lnSpc>
              </a:pPr>
              <a:r>
                <a:rPr lang="en-US" sz="2600" b="true">
                  <a:solidFill>
                    <a:srgbClr val="EDE9F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   B</a:t>
              </a:r>
              <a:r>
                <a:rPr lang="en-US" sz="2600" b="true">
                  <a:solidFill>
                    <a:srgbClr val="EDE9F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asic reporting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03178" y="9379917"/>
            <a:ext cx="13716000" cy="685800"/>
            <a:chOff x="0" y="0"/>
            <a:chExt cx="18288000" cy="914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8000" cy="914400"/>
            </a:xfrm>
            <a:custGeom>
              <a:avLst/>
              <a:gdLst/>
              <a:ahLst/>
              <a:cxnLst/>
              <a:rect r="r" b="b" t="t" l="l"/>
              <a:pathLst>
                <a:path h="9144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82880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b="true" sz="1899" i="true">
                  <a:solidFill>
                    <a:srgbClr val="FFDE59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Built as a hands-on SQL portfolio project — PostgreSQL, data cleaning &amp; business analysis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382317" y="2489158"/>
            <a:ext cx="4678861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8"/>
              </a:lnSpc>
              <a:spcBef>
                <a:spcPct val="0"/>
              </a:spcBef>
            </a:pPr>
            <a:r>
              <a:rPr lang="en-US" b="true" sz="4099">
                <a:solidFill>
                  <a:srgbClr val="FFDE5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Takeaways 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433228" y="-4674787"/>
            <a:ext cx="8233599" cy="8233599"/>
          </a:xfrm>
          <a:custGeom>
            <a:avLst/>
            <a:gdLst/>
            <a:ahLst/>
            <a:cxnLst/>
            <a:rect r="r" b="b" t="t" l="l"/>
            <a:pathLst>
              <a:path h="8233599" w="8233599">
                <a:moveTo>
                  <a:pt x="0" y="0"/>
                </a:moveTo>
                <a:lnTo>
                  <a:pt x="8233600" y="0"/>
                </a:lnTo>
                <a:lnTo>
                  <a:pt x="8233600" y="8233599"/>
                </a:lnTo>
                <a:lnTo>
                  <a:pt x="0" y="82335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7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30421" y="7285935"/>
            <a:ext cx="8233599" cy="8233599"/>
          </a:xfrm>
          <a:custGeom>
            <a:avLst/>
            <a:gdLst/>
            <a:ahLst/>
            <a:cxnLst/>
            <a:rect r="r" b="b" t="t" l="l"/>
            <a:pathLst>
              <a:path h="8233599" w="8233599">
                <a:moveTo>
                  <a:pt x="0" y="0"/>
                </a:moveTo>
                <a:lnTo>
                  <a:pt x="8233599" y="0"/>
                </a:lnTo>
                <a:lnTo>
                  <a:pt x="8233599" y="8233599"/>
                </a:lnTo>
                <a:lnTo>
                  <a:pt x="0" y="82335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7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-3528246" y="-4794795"/>
            <a:ext cx="8233599" cy="8233599"/>
          </a:xfrm>
          <a:custGeom>
            <a:avLst/>
            <a:gdLst/>
            <a:ahLst/>
            <a:cxnLst/>
            <a:rect r="r" b="b" t="t" l="l"/>
            <a:pathLst>
              <a:path h="8233599" w="8233599">
                <a:moveTo>
                  <a:pt x="0" y="0"/>
                </a:moveTo>
                <a:lnTo>
                  <a:pt x="8233599" y="0"/>
                </a:lnTo>
                <a:lnTo>
                  <a:pt x="8233599" y="8233599"/>
                </a:lnTo>
                <a:lnTo>
                  <a:pt x="0" y="82335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7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400000">
            <a:off x="17137706" y="6160382"/>
            <a:ext cx="1883096" cy="941548"/>
          </a:xfrm>
          <a:custGeom>
            <a:avLst/>
            <a:gdLst/>
            <a:ahLst/>
            <a:cxnLst/>
            <a:rect r="r" b="b" t="t" l="l"/>
            <a:pathLst>
              <a:path h="941548" w="1883096">
                <a:moveTo>
                  <a:pt x="0" y="0"/>
                </a:moveTo>
                <a:lnTo>
                  <a:pt x="1883096" y="0"/>
                </a:lnTo>
                <a:lnTo>
                  <a:pt x="1883096" y="941548"/>
                </a:lnTo>
                <a:lnTo>
                  <a:pt x="0" y="941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DAHRl6UvY5g</dc:identifier>
  <dcterms:modified xsi:type="dcterms:W3CDTF">2011-08-01T06:04:30Z</dcterms:modified>
  <cp:revision>1</cp:revision>
  <dc:title>Zepto_SQL_Analysis.pptx</dc:title>
</cp:coreProperties>
</file>